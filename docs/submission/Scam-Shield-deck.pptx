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Team: Scam Shield. Team leader: Naman Shrimal. Track: BFSI: Intelligent Risk, Fraud &amp; Financial Experiences. Community benefit: a free, plain-language check for anyone in India, in English or Hindi, and a shared scam list so each report warns the next person. The statement 'lose crores' is backed by slide 4 (about Rs 19,813 crore reported lost to cyber fraud in 2025, I4C data; see docs/submission/sources.md).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Organisers' instruction slide, kept exactly as in the template. Nothing to present here; the next slide starts the pitch.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Gen AI (the heart of the idea): one multimodal call to Gemini on Vertex AI reads the text, a screenshot or an audio clip together (Hinglish voice notes are transcribed and judged in the same call). The answer is schema-validated structured output, every red flag quotes evidence from the input, and the answer comes back in English or Hindi. Deterministic checks (scam-list hits, a QR that asks you to pay while the text says receive) can only RAISE a verdict. What Gemini does that rules cannot: judge scams nobody has reported yet, and read images and voice. India-specific scam types covered by the benchmark and the examples: fake payment receipts, 'digital arrest' calls, fake KYC messages, UPI QR tricks. Careful by design: links are opened only in an isolated scanner (a private Cloud Run service), never on the person's phone; verdicts are Scam, Suspicious or No scam signs found, the app never says 'safe', and it gives guidance only. Screenshots are from the live production app, captured by scripts/screenshots.ts.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Sources (all checked 18 Oct 2026, see docs/submission/sources.md): Rs 19,813 crore and about 21.78 lakh complaints reported for 2025, I4C / National Cyber Crime Reporting Portal (https://ianslive.in/indians-lose-over-rs-52976-crore-to-cyber-frauds-over-six-years-report--20260103154943; a separate Home Ministry reply is quoted as about Rs 22,495 crore, so the figure is labelled I4C data). Truecaller Scam Checker launched in India on 28 Sep 2026: checks links, numbers and messages against community reports; screenshot upload is planned, not available (https://www.techrepublic.com/article/news-truecaller-scam-checker-apac-india/). Google scam detection: Messages on Pixel 6 and newer reached India in Sep 2026; on-device call scam detection in India is limited to Pixel 9 and newer (https://androidauthority.com/pixel-scam-detection-google-messages-global-3711361, https://techcrunch.com/2025/11/20/google-steps-up-ai-scam-protection-in-india-but-gaps-remain). Chakshu (Sanchar Saathi) is a reporting facility (https://sancharsaathi.gov.in; wording to be re-verified). No recovery percentage is quoted: no national recovery rate is published. USP wording: fake payment receipts and 'digital arrest' calls are scam types in the benchmark and the examples; UPI QR pay-vs-receive is a hard check. The three card headings are the organisers' standard prompts for this slide (the original prompt text was lost from the template file).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All features are live in the production app (https://scam-shield-live.web.app). The WebMCP tools check_message and report_scam are registered in web/src/webmcp/registerTools.ts; report_scam needs a person signed in with Google. Verdict names are Scam, Suspicious and No scam signs found.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Flow as implemented in api/src/app.ts. Step 6 is a single multimodal Gemini call on Vertex AI (default gemini-3.7-flash, fallback gemini-2.5-flash) that returns schema-validated structured output with quoted evidence in English or Hindi. Step 7: deterministic checks (scam-list hits, a QR that asks you to pay while the text says receive) can only RAISE the verdict. If Gemini fails or times out the person sees a clear retry message; no verdict is invented and nothing is stored. Limits: 30 checks per user per day, 60 per IP per minute, 3,000 per day overall.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These are real screenshots of the running app, not mock-ups: the desktop check page, the mobile check page, the complaint page and the Hindi interface. Captured with scripts/screenshots.ts against the live production site.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Architecture as deployed (scripts/deploy.sh, region asia-south1): Firebase Hosting serves the React PWA and forwards /api/** to the Cloud Run API. The API is stateless (1 vCPU, 1 GiB, concurrency 20, min 1 and max 5 instances) and calls Gemini on Vertex AI, Firestore and the private link scanner. The link scanner (2 vCPU, 2 GiB, min 0, max 3 instances, private, no unauthenticated access) runs under its own service account with no project roles and can be invoked only by the API's service account. Cloud Storage uploads are deleted after 7 days by a lifecycle rule (scripts/storage-lifecycle.json). Limits: 30 per user per day, 60 per IP per minute, 3,000 per day overall. Product icons are shown only to identify the technologies used; no endorsement by Google is implied (trademark footnote on the slide). The icon files are kept in docs/brand/third-party. Uploads go straight from the browser to Storage.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Meaningful Gen AI: a single multimodal Gemini call on Vertex AI (api/src/gemini.ts; default model gemini-3.7-flash, automatic fallback gemini-2.5-flash, location global) reads text, image or audio. Output is schema-validated (zod schemas in shared/), every red flag quotes evidence, answers come in English or Hindi. Deterministic checks can only raise the verdict. WebMCP tools: check_message and report_scam (web/src/webmcp/registerTools.ts). Scalability: the API is a stateless Cloud Run service (concurrency 20, min 1, max 5 instances); the link scanner scales to zero (max 3) under its own service account with no roles; Firestore holds the shared scam list; Firebase Hosting, Auth and Storage in front. Test count: on 18 Oct 2026 the suites passed 595 tests (shared 14, web 226, linkscan 94, eval 5, api 256); a further 18 api tests need the Firestore emulator (Java) and were not run. Also used: Cloud Build and Artifact Registry for deploys, Cloud Text-to-Speech to generate the voice example. The live benchmark behind the slide-12 numbers: 185 synthetic cases over 3 live runs (eval/results/combined.md).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Every figure on this slide is an ESTIMATE with stated assumptions, read from Google's published pages on 18 Oct 2026; none is a quote. Gemini: Vertex AI pricing page https://cloud.google.com/vertex-ai/generative-ai/pricing lists Gemini 3.7 Flash (global) at US$0.75 per 1M input tokens and US$3.75 per 1M output tokens through 31 Dec 2026, and US$1.50 / US$7.50 from 1 Jan 2027 (input includes text, image, video and audio; output includes reasoning). Assumption (ours, not measured): about 2,500 input and 500 output tokens per text check, up to 1,500 output tokens if reasoning tokens are counted. Low = 2,500 x 0.75/1M + 500 x 3.75/1M = US$0.0038; high = 2,500 x 0.75/1M + 1,500 x 3.75/1M = US$0.0075. Image and audio checks use more input tokens. At the 3,000 checks per day cap that is about US$11 to 23 per day. Cloud Run: https://cloud.google.com/run/pricing , asia-south1 (Mumbai) is Tier 1; idle minimum-instance time is US$0.0000025 per vCPU-second and per GiB-second (request-based billing). 1 vCPU + 1 GiB x 2,592,000 s (30 days) x US$0.0000025 x 2 = US$12.96 per month before any free tier; active request time is billed on top and is small. Deployed API settings (scripts/deploy.sh): 1 vCPU, 1 GiB, min 1, max 5 instances. Free tier claims for Firebase Hosting, Auth, Firestore and Storage are expectations at this volume, not measured bills. Budget alert: Rs 2,000 per month, alerts at 50%, 90% and 100% (Rs 1,000, Rs 1,800, Rs 2,000), set by the owner in Google Cloud Billing (budget name 'Scam Shield', applies to this project). A budget alert only notifies; it does not cap or stop spending. The real cost control is the per-user (30 per day), per-IP (60 per minute) and global (3,000 per day) limits in the API. Currency: USD as listed by Google; no INR conversion is claimed.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Real screenshots of the production app, captured by scripts/screenshots.ts from live checks (the example buttons run the same API as a typed message). Strip under the screens: live benchmark, 185 cases over 3 runs: 98.3% accuracy, 100% scam recall, 3.3% false positives (3 of 90 genuine) (eval/results/combined.md; details on the next slide). Left to right: a fake KYC SMS with a look-alike bank link; a QR that encodes a payment request while the text says 'receive'; a genuine bank debit alert with 'No scam signs found' (not a guarantee); a Hinglish 'digital arrest' voice note judged in Hindi; the report dialog, which asks for Google sign-in before a report is added to the shared list (to stop fake reports).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Benchmark, combined over 3 live runs of the production app (single source: eval/results/combined.md, written by eval/aggregate.ts): 185 synthetic cases over 3 live runs: 98.3% accuracy, 100% scam recall, 3.3% false positives (3 of 90 genuine). Scam type correct 96.7%; errors 0. Accuracy is 177 of 180 scored cases; the 5 ambiguous inputs are not scored as scam or genuine, and none was given a Scam verdict. Per run: v1 50 cases (2026-10-17): accuracy 100%, recall 100%, false positives 0%; v2 35 cases (2026-10-18): accuracy 93.3%, recall 100%, false positives 12.5%; v3 100 cases (2026-10-18): accuracy 99.0%, recall 100%, false positives 2.0%. v1 is the original 50 cases, v2 is 35 adversarial and look-alike cases (14 adversarial scams, 16 benign look-alikes, 5 ambiguous), v3 is 100 realistic cases (50 scams, 50 genuine). Nothing was tuned after v2 and v3 results were seen. The 3 false positives: l03 (scam-awareness forward that quotes a scam link); l08 (delivery update with a tracking link); v3g40 (friend asking for a short loan). Missed scams: none. All misses and false positives are listed in eval/results/combined.md. Latency (successful calls): text p50 4.5 s, p95 18.2 s over 179 cases; image p50 6.9 s, p95 8.6 s; audio 10.3 s (one case). Wall-clock from request to response, concurrency 1. Keyword baseline (eval/baseline.ts, about 30 rules, text only): on v2 94.1% accuracy against Gemini's 94.1% (the same score, with different mistakes; see eval/results/run-v2.md); on v3 84.0% accuracy and 72.0% recall against Gemini's 99.0% and 100% (eval/results/run-v3.md). A keyword filter does well on textbook scams; the harder sets are where the model adds value. History: the first run (2026-10-17, 50 cases, eval/results/latest.md) scored 100% accuracy, 100% recall, 0% false positives; it is a valid earlier run but not the headline, because 50 cases written by the authors could not show the weak spots that v2 and v3 probe. It also exposed a real bug (the model did not know today's date and flagged 2026 dates as future); that was fixed and re-measured. The Hindi run (2026-10-17, eval/results/run-hindi.md) used the same 50 cases with the interface in Hindi: accuracy 100%, recall 100%, false positives 0%, scam type correct 100%. Model choice: an earlier comparison on the first 50 cases with gemini-3.8-flash (2026-10-16) scored accuracy 98.0%, false-positive rate 4.2%, image p95 33.8 s; that is why the default is gemini-3.7-flash, with gemini-2.5-flash as fallback (api/src/index.ts). This is a synthetic sanity check written by the authors, not a guarantee of real-world accuracy.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Roadmap items are plans, not shipped features. Scale story, from what is deployed today (scripts/deploy.sh): API on Cloud Run, stateless, concurrency 20, min 1 and max 5 instances; link scanner scales to zero (max 3); Firestore for the shared scam list; Firebase Hosting, Auth and Storage; per-user (30 per day), per-IP (60 per minute) and global (3,000 per day) limits; uploads auto-delete after 7 days. Misinformation mode ('is this forward real?') is an idea for the same engine, not built. Raising the cap or max instances is a configuration change. Hardening ideas: Firebase App Check and a stricter per-device limit (DETAILS.md). Google Search grounding is implemented but off by default because of quota errors on this project.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GitHub (public): https://github.com/Namans12/scam-shield . Live product: https://scam-shield-live.web.app (the QR code points here). Demo video (3 minutes): https://youtu.be/a678nAYddq0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Closing slide: Scam Shield, 'Pause. Check. Then act.' The live app address is at the bottom. The template's final 'Thank you' slide follows.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Thank you. Team Scam Shield: Naman Shrimal. Live app: https://scam-shield-live.web.app ; code: https://github.com/Namans12/scam-shield 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jpg"/><Relationship Id="rId10" Type="http://schemas.openxmlformats.org/officeDocument/2006/relationships/image" Target="../media/image1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6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28.jpg"/><Relationship Id="rId10" Type="http://schemas.openxmlformats.org/officeDocument/2006/relationships/image" Target="../media/image29.jpg"/><Relationship Id="rId11" Type="http://schemas.openxmlformats.org/officeDocument/2006/relationships/image" Target="../media/image30.jpg"/><Relationship Id="rId12" Type="http://schemas.openxmlformats.org/officeDocument/2006/relationships/image" Target="../media/image3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8.png"/><Relationship Id="rId8" Type="http://schemas.openxmlformats.org/officeDocument/2006/relationships/image" Target="../media/image34.png"/><Relationship Id="rId9" Type="http://schemas.openxmlformats.org/officeDocument/2006/relationships/image" Target="../media/image37.png"/><Relationship Id="rId10" Type="http://schemas.openxmlformats.org/officeDocument/2006/relationships/image" Target="../media/image3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9.jpg"/><Relationship Id="rId11" Type="http://schemas.openxmlformats.org/officeDocument/2006/relationships/image" Target="../media/image39.jpg"/><Relationship Id="rId12" Type="http://schemas.openxmlformats.org/officeDocument/2006/relationships/image" Target="../media/image40.jpg"/><Relationship Id="rId13" Type="http://schemas.openxmlformats.org/officeDocument/2006/relationships/image" Target="../media/image41.jpg"/><Relationship Id="rId14" Type="http://schemas.openxmlformats.org/officeDocument/2006/relationships/image" Target="../media/image4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32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47.png"/><Relationship Id="rId6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304" y="2816352"/>
            <a:ext cx="8851392" cy="22128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81B32"/>
                </a:solidFill>
                <a:latin typeface="Avenir Next Demi 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00"/>
              <a:t/>
            </a:r>
            <a:endParaRPr sz="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274320" lvl="1" marL="384048" rtl="0" algn="l">
              <a:spcBef>
                <a:spcPts val="0"/>
              </a:spcBef>
              <a:spcAft>
                <a:spcPts val="300"/>
              </a:spcAft>
              <a:buSzPts val="1300"/>
              <a:buFont typeface="Google Sans Flex"/>
              <a:buAutoNum type="alphaLcPeriod"/>
            </a:pPr>
            <a:r>
              <a:rPr lang="en-GB" sz="1300" i="0">
                <a:solidFill>
                  <a:srgbClr val="3F4B5B"/>
                </a:solidFill>
                <a:latin typeface="Avenir Next"/>
                <a:ea typeface="Google Sans Flex"/>
                <a:cs typeface="Google Sans Flex"/>
                <a:sym typeface="Google Sans Flex"/>
              </a:rPr>
              <a:t>Team name: </a:t>
            </a:r>
            <a:r>
              <a:rPr sz="1400" i="0">
                <a:solidFill>
                  <a:srgbClr val="0B1F33"/>
                </a:solidFill>
                <a:latin typeface="Avenir Next Demi Bold"/>
              </a:rPr>
              <a:t>Scam Shield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274320" lvl="1" marL="384048" rtl="0" algn="l">
              <a:spcBef>
                <a:spcPts val="0"/>
              </a:spcBef>
              <a:spcAft>
                <a:spcPts val="300"/>
              </a:spcAft>
              <a:buSzPts val="1300"/>
              <a:buFont typeface="Google Sans Flex"/>
              <a:buAutoNum type="alphaLcPeriod"/>
            </a:pPr>
            <a:r>
              <a:rPr lang="en-GB" sz="1300" i="0">
                <a:solidFill>
                  <a:srgbClr val="3F4B5B"/>
                </a:solidFill>
                <a:latin typeface="Avenir Next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sz="1400" i="0">
                <a:solidFill>
                  <a:srgbClr val="0B1F33"/>
                </a:solidFill>
                <a:latin typeface="Avenir Next Demi Bold"/>
              </a:rPr>
              <a:t>Naman Shrimal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274320" lvl="1" marL="384048" rtl="0" algn="l">
              <a:spcBef>
                <a:spcPts val="200"/>
              </a:spcBef>
              <a:spcAft>
                <a:spcPts val="300"/>
              </a:spcAft>
              <a:buSzPts val="1300"/>
              <a:buFont typeface="Google Sans Flex"/>
              <a:buAutoNum type="alphaLcPeriod"/>
            </a:pPr>
            <a:r>
              <a:rPr lang="en-GB" sz="1300" i="0">
                <a:solidFill>
                  <a:srgbClr val="3F4B5B"/>
                </a:solidFill>
                <a:latin typeface="Avenir Next"/>
                <a:ea typeface="Google Sans Flex"/>
                <a:cs typeface="Google Sans Flex"/>
                <a:sym typeface="Google Sans Flex"/>
              </a:rPr>
              <a:t>Problem Statement: </a:t>
            </a:r>
            <a:br/>
            <a:r>
              <a:rPr sz="1300" i="0">
                <a:solidFill>
                  <a:srgbClr val="1764E8"/>
                </a:solidFill>
                <a:latin typeface="Avenir Next Demi Bold"/>
              </a:rPr>
              <a:t>BFSI: Intelligent Risk, Fraud &amp; Financial Experiences</a:t>
            </a:r>
            <a:br/>
            <a:r>
              <a:rPr sz="1200" i="0">
                <a:solidFill>
                  <a:srgbClr val="0B1F33"/>
                </a:solidFill>
                <a:latin typeface="Avenir Next"/>
              </a:rPr>
              <a:t>People in India lose crores to scam messages, QR codes and calls that look real. Scam Shield lets anyone check what they were sent in seconds, then act: a complaint draft, a shared scam list that warns the next person, and a WhatsApp card for the family. Community benefit: fewer people lose their savings, and every report protects the next one.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Picture 56" descr="logo-lockup-horizont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852928"/>
            <a:ext cx="2286000" cy="6343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81B32"/>
                </a:solidFill>
                <a:latin typeface="Avenir Next Demi Bold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65760" y="1207008"/>
            <a:ext cx="5074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i="0">
                <a:solidFill>
                  <a:srgbClr val="081B32"/>
                </a:solidFill>
                <a:latin typeface="Avenir Next Demi Bold"/>
              </a:rPr>
              <a:t>Check what you were just sent before you act on it.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0B1F33"/>
                </a:solidFill>
                <a:latin typeface="Avenir Next"/>
              </a:rPr>
              <a:t>Free for anyone in India, and built for the scams people meet here: fake payment receipts, "digital arrest" calls and UPI QR tricks.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65760" y="1984248"/>
            <a:ext cx="507492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12064" y="2157984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-sparkles-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235" y="2250155"/>
            <a:ext cx="199704" cy="199704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078992" y="1984248"/>
            <a:ext cx="423367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i="0">
                <a:solidFill>
                  <a:srgbClr val="081B32"/>
                </a:solidFill>
                <a:latin typeface="Avenir Next Demi Bold"/>
              </a:rPr>
              <a:t>One multimodal Gemini call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0B1F33"/>
                </a:solidFill>
                <a:latin typeface="Avenir Next"/>
              </a:rPr>
              <a:t>Text, screenshots, QR codes, links and Hinglish voice notes are read together by Gemini on Vertex AI.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65760" y="2779776"/>
            <a:ext cx="507492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12064" y="2953512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i-quote-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235" y="3045683"/>
            <a:ext cx="199704" cy="199704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078992" y="2779776"/>
            <a:ext cx="423367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i="0">
                <a:solidFill>
                  <a:srgbClr val="081B32"/>
                </a:solidFill>
                <a:latin typeface="Avenir Next Demi Bold"/>
              </a:rPr>
              <a:t>A verdict you can check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0B1F33"/>
                </a:solidFill>
                <a:latin typeface="Avenir Next"/>
              </a:rPr>
              <a:t>Scam, Suspicious or No scam signs found. Every red flag quotes the exact words. English or Hindi.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65760" y="3575304"/>
            <a:ext cx="507492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512064" y="3749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i-flag-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235" y="3841211"/>
            <a:ext cx="199704" cy="199704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078992" y="3575304"/>
            <a:ext cx="423367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i="0">
                <a:solidFill>
                  <a:srgbClr val="081B32"/>
                </a:solidFill>
                <a:latin typeface="Avenir Next Demi Bold"/>
              </a:rPr>
              <a:t>From verdict to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0B1F33"/>
                </a:solidFill>
                <a:latin typeface="Avenir Next"/>
              </a:rPr>
              <a:t>A complaint draft for 1930 and cybercrime.gov.in, a shared scam list and a WhatsApp warning card.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65760" y="4370832"/>
            <a:ext cx="5074920" cy="548639"/>
          </a:xfrm>
          <a:prstGeom prst="roundRect">
            <a:avLst>
              <a:gd name="adj" fmla="val 13333"/>
            </a:avLst>
          </a:prstGeom>
          <a:solidFill>
            <a:srgbClr val="08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8640" y="4370832"/>
            <a:ext cx="4709159" cy="5486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34C9E8"/>
                </a:solidFill>
                <a:latin typeface="Avenir Next Demi Bold"/>
              </a:rPr>
              <a:t>Careful by design: </a:t>
            </a:r>
            <a:r>
              <a:rPr sz="1200" i="0">
                <a:solidFill>
                  <a:srgbClr val="FFFFFF"/>
                </a:solidFill>
                <a:latin typeface="Avenir Next"/>
              </a:rPr>
              <a:t>links open in an isolated browser, never on your phone. It never says "safe": it gives guidance and you decide.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623560" y="1207008"/>
            <a:ext cx="3154680" cy="3310128"/>
          </a:xfrm>
          <a:prstGeom prst="roundRect">
            <a:avLst>
              <a:gd name="adj" fmla="val 3478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phone-landing-f1f5fb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0" y="1325880"/>
            <a:ext cx="1553671" cy="3090672"/>
          </a:xfrm>
          <a:prstGeom prst="rect">
            <a:avLst/>
          </a:prstGeom>
        </p:spPr>
      </p:pic>
      <p:pic>
        <p:nvPicPr>
          <p:cNvPr id="89" name="Picture 88" descr="phone-scam-f1f5fb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2951" y="1325880"/>
            <a:ext cx="1553671" cy="3090672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5623560" y="4590288"/>
            <a:ext cx="3154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3F4B5B"/>
                </a:solidFill>
                <a:latin typeface="Avenir Next"/>
              </a:rPr>
              <a:t>The live app, as seen on a phone.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81B32"/>
                </a:solidFill>
                <a:latin typeface="Avenir Next Demi 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365760" y="1207008"/>
            <a:ext cx="8412480" cy="530352"/>
          </a:xfrm>
          <a:prstGeom prst="roundRect">
            <a:avLst>
              <a:gd name="adj" fmla="val 12068"/>
            </a:avLst>
          </a:prstGeom>
          <a:solidFill>
            <a:srgbClr val="08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6928" y="1207008"/>
            <a:ext cx="2514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i="0">
                <a:solidFill>
                  <a:srgbClr val="34C9E8"/>
                </a:solidFill>
                <a:latin typeface="Avenir Next Demi Bold"/>
              </a:rPr>
              <a:t>Rs 19,813 crore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54679" y="1207008"/>
            <a:ext cx="544067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FFFFFF"/>
                </a:solidFill>
                <a:latin typeface="Avenir Next"/>
              </a:rPr>
              <a:t>reported lost to cyber fraud in 2025, across about 21.78 lakh complaints (I4C data, National Cyber Crime Reporting Portal)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65760" y="1828800"/>
            <a:ext cx="4892040" cy="3090672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8640" y="1956816"/>
            <a:ext cx="45262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764E8"/>
                </a:solidFill>
                <a:latin typeface="Avenir Next Demi Bold"/>
              </a:rPr>
              <a:t>How different is it from existing ideas?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2286000"/>
            <a:ext cx="4526279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Truecaller Scam Checker (Sep 2026): </a:t>
            </a:r>
            <a:r>
              <a:rPr sz="1200" i="0">
                <a:solidFill>
                  <a:srgbClr val="0B1F33"/>
                </a:solidFill>
                <a:latin typeface="Avenir Next"/>
              </a:rPr>
              <a:t>checks links, numbers and messages against community reports; screenshot upload is only planned.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548640" y="2907792"/>
            <a:ext cx="4526280" cy="0"/>
          </a:xfrm>
          <a:prstGeom prst="line">
            <a:avLst/>
          </a:prstGeom>
          <a:ln w="9525">
            <a:solidFill>
              <a:srgbClr val="D5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548640" y="2980944"/>
            <a:ext cx="452627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Google scam detection: </a:t>
            </a:r>
            <a:r>
              <a:rPr sz="1200" i="0">
                <a:solidFill>
                  <a:srgbClr val="0B1F33"/>
                </a:solidFill>
                <a:latin typeface="Avenir Next"/>
              </a:rPr>
              <a:t>Messages on Pixel 6 and newer, and calls on Pixel 9 and newer, in India.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548640" y="3419856"/>
            <a:ext cx="4526280" cy="0"/>
          </a:xfrm>
          <a:prstGeom prst="line">
            <a:avLst/>
          </a:prstGeom>
          <a:ln w="9525">
            <a:solidFill>
              <a:srgbClr val="D5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48640" y="3493008"/>
            <a:ext cx="452627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Chakshu (Sanchar Saathi): </a:t>
            </a:r>
            <a:r>
              <a:rPr sz="1200" i="0">
                <a:solidFill>
                  <a:srgbClr val="0B1F33"/>
                </a:solidFill>
                <a:latin typeface="Avenir Next"/>
              </a:rPr>
              <a:t>a reporting facility for suspicious calls, SMS and WhatsApp messages.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548640" y="3931920"/>
            <a:ext cx="4526280" cy="0"/>
          </a:xfrm>
          <a:prstGeom prst="line">
            <a:avLst/>
          </a:prstGeom>
          <a:ln w="9525">
            <a:solidFill>
              <a:srgbClr val="D5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493776" y="4023360"/>
            <a:ext cx="4636007" cy="768095"/>
          </a:xfrm>
          <a:prstGeom prst="roundRect">
            <a:avLst>
              <a:gd name="adj" fmla="val 7142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21792" y="4023360"/>
            <a:ext cx="4379975" cy="7680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764E8"/>
                </a:solidFill>
                <a:latin typeface="Avenir Next Demi Bold"/>
              </a:rPr>
              <a:t>Scam Shield: </a:t>
            </a:r>
            <a:r>
              <a:rPr sz="1200" i="0">
                <a:solidFill>
                  <a:srgbClr val="0B1F33"/>
                </a:solidFill>
                <a:latin typeface="Avenir Next"/>
              </a:rPr>
              <a:t>reads the content itself, so it can flag scams nobody has reported yet, from text, screenshots, QR codes, links and voice notes.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440680" y="1828800"/>
            <a:ext cx="3337559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623560" y="1956816"/>
            <a:ext cx="29717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764E8"/>
                </a:solidFill>
                <a:latin typeface="Avenir Next Demi Bold"/>
              </a:rPr>
              <a:t>How will it solve the problem?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23560" y="2267712"/>
            <a:ext cx="2971799" cy="813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764E8"/>
              </a:buClr>
              <a:buFont typeface="Arial"/>
              <a:buChar char="•"/>
            </a:pPr>
            <a:r>
              <a:rPr sz="1200" i="0">
                <a:solidFill>
                  <a:srgbClr val="0B1F33"/>
                </a:solidFill>
                <a:latin typeface="Avenir Next"/>
              </a:rPr>
              <a:t>Checks before you pay, scan or click</a:t>
            </a:r>
          </a:p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764E8"/>
              </a:buClr>
              <a:buFont typeface="Arial"/>
              <a:buChar char="•"/>
            </a:pPr>
            <a:r>
              <a:rPr sz="1200" i="0">
                <a:solidFill>
                  <a:srgbClr val="0B1F33"/>
                </a:solidFill>
                <a:latin typeface="Avenir Next"/>
              </a:rPr>
              <a:t>Quotes every red flag from the message</a:t>
            </a:r>
          </a:p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64E8"/>
              </a:buClr>
              <a:buFont typeface="Arial"/>
              <a:buChar char="•"/>
            </a:pPr>
            <a:r>
              <a:rPr sz="1200" i="0">
                <a:solidFill>
                  <a:srgbClr val="0B1F33"/>
                </a:solidFill>
                <a:latin typeface="Avenir Next"/>
              </a:rPr>
              <a:t>Turns a scam into action: complaint, shared list, family warning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440680" y="3255264"/>
            <a:ext cx="3337559" cy="1664207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623560" y="3383280"/>
            <a:ext cx="29717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764E8"/>
                </a:solidFill>
                <a:latin typeface="Avenir Next Demi Bold"/>
              </a:rPr>
              <a:t>USP of the proposed solution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23560" y="3694176"/>
            <a:ext cx="2971799" cy="11612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764E8"/>
              </a:buClr>
              <a:buFont typeface="Arial"/>
              <a:buChar char="•"/>
            </a:pPr>
            <a:r>
              <a:rPr sz="1200" i="0">
                <a:solidFill>
                  <a:srgbClr val="0B1F33"/>
                </a:solidFill>
                <a:latin typeface="Avenir Next"/>
              </a:rPr>
              <a:t>Catches scams nobody has reported yet</a:t>
            </a:r>
          </a:p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764E8"/>
              </a:buClr>
              <a:buFont typeface="Arial"/>
              <a:buChar char="•"/>
            </a:pPr>
            <a:r>
              <a:rPr sz="1200" i="0">
                <a:solidFill>
                  <a:srgbClr val="0B1F33"/>
                </a:solidFill>
                <a:latin typeface="Avenir Next"/>
              </a:rPr>
              <a:t>Made for India: fake payment receipts, "digital arrest" calls, UPI QR tricks</a:t>
            </a:r>
          </a:p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64E8"/>
              </a:buClr>
              <a:buFont typeface="Arial"/>
              <a:buChar char="•"/>
            </a:pPr>
            <a:r>
              <a:rPr sz="1200" i="0">
                <a:solidFill>
                  <a:srgbClr val="0B1F33"/>
                </a:solidFill>
                <a:latin typeface="Avenir Next"/>
              </a:rPr>
              <a:t>Understands Hinglish voice notes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81B32"/>
                </a:solidFill>
                <a:latin typeface="Avenir Next Demi Bold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365760" y="1207008"/>
            <a:ext cx="1965960" cy="1572768"/>
          </a:xfrm>
          <a:prstGeom prst="roundRect">
            <a:avLst>
              <a:gd name="adj" fmla="val 4069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512064" y="135331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i-scan-text-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" y="1441094"/>
            <a:ext cx="190195" cy="190195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512064" y="1828800"/>
            <a:ext cx="16916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i="0">
                <a:solidFill>
                  <a:srgbClr val="081B32"/>
                </a:solidFill>
                <a:latin typeface="Avenir Next Demi Bold"/>
              </a:rPr>
              <a:t>5 input types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0B1F33"/>
                </a:solidFill>
                <a:latin typeface="Avenir Next"/>
              </a:rPr>
              <a:t>Text, screenshot, QR code, link and voice note.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514600" y="1207008"/>
            <a:ext cx="1965960" cy="1572768"/>
          </a:xfrm>
          <a:prstGeom prst="roundRect">
            <a:avLst>
              <a:gd name="adj" fmla="val 4069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2660904" y="135331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i-shield-check-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8686" y="1441094"/>
            <a:ext cx="190195" cy="190195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2660904" y="1828800"/>
            <a:ext cx="16916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i="0">
                <a:solidFill>
                  <a:srgbClr val="081B32"/>
                </a:solidFill>
                <a:latin typeface="Avenir Next Demi Bold"/>
              </a:rPr>
              <a:t>Clear verdict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0B1F33"/>
                </a:solidFill>
                <a:latin typeface="Avenir Next"/>
              </a:rPr>
              <a:t>Scam, Suspicious or No scam signs found, with a risk score.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663440" y="1207008"/>
            <a:ext cx="1965960" cy="1572768"/>
          </a:xfrm>
          <a:prstGeom prst="roundRect">
            <a:avLst>
              <a:gd name="adj" fmla="val 4069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4809744" y="135331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i-quote-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7526" y="1441094"/>
            <a:ext cx="190195" cy="190195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4809744" y="1828800"/>
            <a:ext cx="16916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i="0">
                <a:solidFill>
                  <a:srgbClr val="081B32"/>
                </a:solidFill>
                <a:latin typeface="Avenir Next Demi Bold"/>
              </a:rPr>
              <a:t>Evidence quoted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0B1F33"/>
                </a:solidFill>
                <a:latin typeface="Avenir Next"/>
              </a:rPr>
              <a:t>Each red flag points to the exact words in the message.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812280" y="1207008"/>
            <a:ext cx="1965960" cy="1572768"/>
          </a:xfrm>
          <a:prstGeom prst="roundRect">
            <a:avLst>
              <a:gd name="adj" fmla="val 4069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6958584" y="135331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2" name="Picture 101" descr="i-languages-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6366" y="1441094"/>
            <a:ext cx="190195" cy="190195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6958584" y="1828800"/>
            <a:ext cx="16916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i="0">
                <a:solidFill>
                  <a:srgbClr val="081B32"/>
                </a:solidFill>
                <a:latin typeface="Avenir Next Demi Bold"/>
              </a:rPr>
              <a:t>English + Hindi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0B1F33"/>
                </a:solidFill>
                <a:latin typeface="Avenir Next"/>
              </a:rPr>
              <a:t>Hinglish understood; answers in the language you pick.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65760" y="2889504"/>
            <a:ext cx="1965960" cy="1572768"/>
          </a:xfrm>
          <a:prstGeom prst="roundRect">
            <a:avLst>
              <a:gd name="adj" fmla="val 4069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512064" y="3035808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6" name="Picture 105" descr="i-file-text-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846" y="3123590"/>
            <a:ext cx="190195" cy="190195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512064" y="3511296"/>
            <a:ext cx="16916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i="0">
                <a:solidFill>
                  <a:srgbClr val="081B32"/>
                </a:solidFill>
                <a:latin typeface="Avenir Next Demi Bold"/>
              </a:rPr>
              <a:t>Complaint draft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0B1F33"/>
                </a:solidFill>
                <a:latin typeface="Avenir Next"/>
              </a:rPr>
              <a:t>Ready text for 1930 and cybercrime.gov.in.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514600" y="2889504"/>
            <a:ext cx="1965960" cy="1572768"/>
          </a:xfrm>
          <a:prstGeom prst="roundRect">
            <a:avLst>
              <a:gd name="adj" fmla="val 4069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2660904" y="3035808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0" name="Picture 109" descr="i-users-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8686" y="3123590"/>
            <a:ext cx="190195" cy="190195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2660904" y="3511296"/>
            <a:ext cx="16916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i="0">
                <a:solidFill>
                  <a:srgbClr val="081B32"/>
                </a:solidFill>
                <a:latin typeface="Avenir Next Demi Bold"/>
              </a:rPr>
              <a:t>Shared scam list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0B1F33"/>
                </a:solidFill>
                <a:latin typeface="Avenir Next"/>
              </a:rPr>
              <a:t>"Reported N times", with linked numbers, UPI IDs and sites.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663440" y="2889504"/>
            <a:ext cx="1965960" cy="1572768"/>
          </a:xfrm>
          <a:prstGeom prst="roundRect">
            <a:avLst>
              <a:gd name="adj" fmla="val 4069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4809744" y="3035808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4" name="Picture 113" descr="i-share-2-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7526" y="3123590"/>
            <a:ext cx="190195" cy="190195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4809744" y="3511296"/>
            <a:ext cx="16916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i="0">
                <a:solidFill>
                  <a:srgbClr val="081B32"/>
                </a:solidFill>
                <a:latin typeface="Avenir Next Demi Bold"/>
              </a:rPr>
              <a:t>Warning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0B1F33"/>
                </a:solidFill>
                <a:latin typeface="Avenir Next"/>
              </a:rPr>
              <a:t>One tap shares a warning with the family WhatsApp group.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812280" y="2889504"/>
            <a:ext cx="1965960" cy="1572768"/>
          </a:xfrm>
          <a:prstGeom prst="roundRect">
            <a:avLst>
              <a:gd name="adj" fmla="val 4069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6958584" y="3035808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8" name="Picture 117" descr="i-bot-bl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6366" y="3123590"/>
            <a:ext cx="190195" cy="190195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6958584" y="3511296"/>
            <a:ext cx="16916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i="0">
                <a:solidFill>
                  <a:srgbClr val="081B32"/>
                </a:solidFill>
                <a:latin typeface="Avenir Next Demi Bold"/>
              </a:rPr>
              <a:t>Agent tools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0B1F33"/>
                </a:solidFill>
                <a:latin typeface="Avenir Next"/>
              </a:rPr>
              <a:t>WebMCP tools let AI agents check and report.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65760" y="4553712"/>
            <a:ext cx="8412480" cy="365760"/>
          </a:xfrm>
          <a:prstGeom prst="roundRect">
            <a:avLst>
              <a:gd name="adj" fmla="val 17499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48640" y="4553712"/>
            <a:ext cx="804671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764E8"/>
                </a:solidFill>
                <a:latin typeface="Avenir Next Demi Bold"/>
              </a:rPr>
              <a:t>Also: </a:t>
            </a:r>
            <a:r>
              <a:rPr sz="1200" i="0">
                <a:solidFill>
                  <a:srgbClr val="0B1F33"/>
                </a:solidFill>
                <a:latin typeface="Avenir Next"/>
              </a:rPr>
              <a:t>trends, history, one-tap examples, an installable app and the Android share menu.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81B32"/>
                </a:solidFill>
                <a:latin typeface="Avenir Next Demi Bold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365760" y="1207008"/>
            <a:ext cx="19659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502920" y="133502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7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02920" y="133502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FFFFFF"/>
                </a:solidFill>
                <a:latin typeface="Avenir Next Demi Bold"/>
              </a:rPr>
              <a:t>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2920" y="1636776"/>
            <a:ext cx="1709928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i="0">
                <a:solidFill>
                  <a:srgbClr val="081B32"/>
                </a:solidFill>
                <a:latin typeface="Avenir Next Demi Bold"/>
              </a:rPr>
              <a:t>Input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0B1F33"/>
                </a:solidFill>
                <a:latin typeface="Avenir Next"/>
              </a:rPr>
              <a:t>Text, screenshot, QR, link or voice note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2359151" y="1847088"/>
            <a:ext cx="128017" cy="0"/>
          </a:xfrm>
          <a:prstGeom prst="line">
            <a:avLst/>
          </a:prstGeom>
          <a:ln w="22225">
            <a:solidFill>
              <a:srgbClr val="1764E8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2514600" y="1207008"/>
            <a:ext cx="19659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2651760" y="133502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7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651760" y="133502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FFFFFF"/>
                </a:solidFill>
                <a:latin typeface="Avenir Next Demi Bold"/>
              </a:rPr>
              <a:t>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651760" y="1636776"/>
            <a:ext cx="1709928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i="0">
                <a:solidFill>
                  <a:srgbClr val="081B32"/>
                </a:solidFill>
                <a:latin typeface="Avenir Next Demi Bold"/>
              </a:rPr>
              <a:t>Guardrails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0B1F33"/>
                </a:solidFill>
                <a:latin typeface="Avenir Next"/>
              </a:rPr>
              <a:t>Anonymous sign-in; per-user, per-IP and daily limits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4507992" y="1847088"/>
            <a:ext cx="128016" cy="0"/>
          </a:xfrm>
          <a:prstGeom prst="line">
            <a:avLst/>
          </a:prstGeom>
          <a:ln w="22225">
            <a:solidFill>
              <a:srgbClr val="1764E8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4663440" y="1207008"/>
            <a:ext cx="19659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4800600" y="133502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7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800600" y="133502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FFFFFF"/>
                </a:solidFill>
                <a:latin typeface="Avenir Next Demi Bold"/>
              </a:rP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800600" y="1636776"/>
            <a:ext cx="1709928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i="0">
                <a:solidFill>
                  <a:srgbClr val="081B32"/>
                </a:solidFill>
                <a:latin typeface="Avenir Next Demi Bold"/>
              </a:rPr>
              <a:t>Extract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0B1F33"/>
                </a:solidFill>
                <a:latin typeface="Avenir Next"/>
              </a:rPr>
              <a:t>Pulls out phones, UPI IDs, links; blanks OTPs and cards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6656832" y="1847088"/>
            <a:ext cx="128016" cy="0"/>
          </a:xfrm>
          <a:prstGeom prst="line">
            <a:avLst/>
          </a:prstGeom>
          <a:ln w="22225">
            <a:solidFill>
              <a:srgbClr val="1764E8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110"/>
          <p:cNvSpPr/>
          <p:nvPr/>
        </p:nvSpPr>
        <p:spPr>
          <a:xfrm>
            <a:off x="6812280" y="1207008"/>
            <a:ext cx="19659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6949440" y="133502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7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949440" y="133502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FFFFFF"/>
                </a:solidFill>
                <a:latin typeface="Avenir Next Demi Bold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949440" y="1636776"/>
            <a:ext cx="1709928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i="0">
                <a:solidFill>
                  <a:srgbClr val="081B32"/>
                </a:solidFill>
                <a:latin typeface="Avenir Next Demi Bold"/>
              </a:rPr>
              <a:t>Scam-list lookup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0B1F33"/>
                </a:solidFill>
                <a:latin typeface="Avenir Next"/>
              </a:rPr>
              <a:t>Firestore: "Reported N times" and linked IDs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65760" y="2688336"/>
            <a:ext cx="19659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502920" y="281635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7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02920" y="28163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FFFFFF"/>
                </a:solidFill>
                <a:latin typeface="Avenir Next Demi Bold"/>
              </a:rPr>
              <a:t>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2920" y="3118104"/>
            <a:ext cx="1709928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i="0">
                <a:solidFill>
                  <a:srgbClr val="081B32"/>
                </a:solidFill>
                <a:latin typeface="Avenir Next Demi Bold"/>
              </a:rPr>
              <a:t>Isolated link scan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0B1F33"/>
                </a:solidFill>
                <a:latin typeface="Avenir Next"/>
              </a:rPr>
              <a:t>A private Cloud Run service opens it: URL, text, screenshot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2359151" y="3328415"/>
            <a:ext cx="128017" cy="0"/>
          </a:xfrm>
          <a:prstGeom prst="line">
            <a:avLst/>
          </a:prstGeom>
          <a:ln w="22225">
            <a:solidFill>
              <a:srgbClr val="1764E8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ounded Rectangle 119"/>
          <p:cNvSpPr/>
          <p:nvPr/>
        </p:nvSpPr>
        <p:spPr>
          <a:xfrm>
            <a:off x="2514600" y="2688336"/>
            <a:ext cx="1965960" cy="1280160"/>
          </a:xfrm>
          <a:prstGeom prst="roundRect">
            <a:avLst>
              <a:gd name="adj" fmla="val 5000"/>
            </a:avLst>
          </a:prstGeom>
          <a:solidFill>
            <a:srgbClr val="08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2651760" y="281635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4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651760" y="28163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081B32"/>
                </a:solidFill>
                <a:latin typeface="Avenir Next Demi Bold"/>
              </a:rPr>
              <a:t>6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767328" y="2825496"/>
            <a:ext cx="576072" cy="237744"/>
          </a:xfrm>
          <a:prstGeom prst="roundRect">
            <a:avLst>
              <a:gd name="adj" fmla="val 50000"/>
            </a:avLst>
          </a:prstGeom>
          <a:solidFill>
            <a:srgbClr val="34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767328" y="2825496"/>
            <a:ext cx="57607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>
                <a:solidFill>
                  <a:srgbClr val="081B32"/>
                </a:solidFill>
                <a:latin typeface="Avenir Next Demi Bold"/>
              </a:rPr>
              <a:t>Gen AI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651760" y="3118104"/>
            <a:ext cx="1709928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i="0">
                <a:solidFill>
                  <a:srgbClr val="FFFFFF"/>
                </a:solidFill>
                <a:latin typeface="Avenir Next Demi Bold"/>
              </a:rPr>
              <a:t>Gemini verdict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FFFFFF"/>
                </a:solidFill>
                <a:latin typeface="Avenir Next"/>
              </a:rPr>
              <a:t>One call reads text, image or audio; evidence quoted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4507992" y="3328415"/>
            <a:ext cx="128016" cy="0"/>
          </a:xfrm>
          <a:prstGeom prst="line">
            <a:avLst/>
          </a:prstGeom>
          <a:ln w="22225">
            <a:solidFill>
              <a:srgbClr val="1764E8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ounded Rectangle 126"/>
          <p:cNvSpPr/>
          <p:nvPr/>
        </p:nvSpPr>
        <p:spPr>
          <a:xfrm>
            <a:off x="4663440" y="2688336"/>
            <a:ext cx="19659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4800600" y="281635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7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800600" y="28163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FFFFFF"/>
                </a:solidFill>
                <a:latin typeface="Avenir Next Demi Bold"/>
              </a:rPr>
              <a:t>7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800600" y="3118104"/>
            <a:ext cx="1709928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i="0">
                <a:solidFill>
                  <a:srgbClr val="081B32"/>
                </a:solidFill>
                <a:latin typeface="Avenir Next Demi Bold"/>
              </a:rPr>
              <a:t>Hard checks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0B1F33"/>
                </a:solidFill>
                <a:latin typeface="Avenir Next"/>
              </a:rPr>
              <a:t>Scam-list hits and QR pay-vs-receive only raise the verdict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6656832" y="3328415"/>
            <a:ext cx="128016" cy="0"/>
          </a:xfrm>
          <a:prstGeom prst="line">
            <a:avLst/>
          </a:prstGeom>
          <a:ln w="22225">
            <a:solidFill>
              <a:srgbClr val="1764E8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ounded Rectangle 131"/>
          <p:cNvSpPr/>
          <p:nvPr/>
        </p:nvSpPr>
        <p:spPr>
          <a:xfrm>
            <a:off x="6812280" y="2688336"/>
            <a:ext cx="19659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6949440" y="281635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76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949440" y="28163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FFFFFF"/>
                </a:solidFill>
                <a:latin typeface="Avenir Next Demi Bold"/>
              </a:rPr>
              <a:t>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49440" y="3118104"/>
            <a:ext cx="1709928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i="0">
                <a:solidFill>
                  <a:srgbClr val="081B32"/>
                </a:solidFill>
                <a:latin typeface="Avenir Next Demi Bold"/>
              </a:rPr>
              <a:t>Result and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0B1F33"/>
                </a:solidFill>
                <a:latin typeface="Avenir Next"/>
              </a:rPr>
              <a:t>Verdict, complaint draft, shared list, warning card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7795260" y="2487168"/>
            <a:ext cx="0" cy="100583"/>
          </a:xfrm>
          <a:prstGeom prst="line">
            <a:avLst/>
          </a:prstGeom>
          <a:ln w="22225">
            <a:solidFill>
              <a:srgbClr val="176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1348740" y="2587751"/>
            <a:ext cx="6446520" cy="0"/>
          </a:xfrm>
          <a:prstGeom prst="line">
            <a:avLst/>
          </a:prstGeom>
          <a:ln w="22225">
            <a:solidFill>
              <a:srgbClr val="176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348740" y="2587751"/>
            <a:ext cx="0" cy="100585"/>
          </a:xfrm>
          <a:prstGeom prst="line">
            <a:avLst/>
          </a:prstGeom>
          <a:ln w="22225">
            <a:solidFill>
              <a:srgbClr val="1764E8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ounded Rectangle 138"/>
          <p:cNvSpPr/>
          <p:nvPr/>
        </p:nvSpPr>
        <p:spPr>
          <a:xfrm>
            <a:off x="365760" y="4078224"/>
            <a:ext cx="8412480" cy="841247"/>
          </a:xfrm>
          <a:prstGeom prst="roundRect">
            <a:avLst>
              <a:gd name="adj" fmla="val 7608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0" name="Picture 139" descr="i-brain-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343400"/>
            <a:ext cx="310896" cy="310896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1005840" y="4078224"/>
            <a:ext cx="7589519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i="0">
                <a:solidFill>
                  <a:srgbClr val="1764E8"/>
                </a:solidFill>
                <a:latin typeface="Avenir Next Demi Bold"/>
              </a:rPr>
              <a:t>Why Gen AI: </a:t>
            </a:r>
            <a:r>
              <a:rPr sz="1150" i="0">
                <a:solidFill>
                  <a:srgbClr val="0B1F33"/>
                </a:solidFill>
                <a:latin typeface="Avenir Next"/>
              </a:rPr>
              <a:t>rules cannot read a screenshot or a Hinglish voice note, or judge a scam nobody has reported. Gemini does. The hard checks can only raise its verdict, never lower it.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0B1F33"/>
                </a:solidFill>
                <a:latin typeface="Avenir Next"/>
              </a:rPr>
              <a:t>If Gemini fails or times out, the person sees a clear retry message; no verdict is invented and nothing is stored.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81B32"/>
                </a:solidFill>
                <a:latin typeface="Avenir Next Demi Bold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4" name="Picture 103" descr="desk-check-ffffff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443" y="1524879"/>
            <a:ext cx="3611880" cy="2436640"/>
          </a:xfrm>
          <a:prstGeom prst="rect">
            <a:avLst/>
          </a:prstGeom>
        </p:spPr>
      </p:pic>
      <p:pic>
        <p:nvPicPr>
          <p:cNvPr id="105" name="Picture 104" descr="phone-check-ffffff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42203" y="1188720"/>
            <a:ext cx="1562864" cy="3108960"/>
          </a:xfrm>
          <a:prstGeom prst="rect">
            <a:avLst/>
          </a:prstGeom>
        </p:spPr>
      </p:pic>
      <p:pic>
        <p:nvPicPr>
          <p:cNvPr id="106" name="Picture 105" descr="phone-complaint-ffffff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87947" y="1188720"/>
            <a:ext cx="1562864" cy="3108960"/>
          </a:xfrm>
          <a:prstGeom prst="rect">
            <a:avLst/>
          </a:prstGeom>
        </p:spPr>
      </p:pic>
      <p:pic>
        <p:nvPicPr>
          <p:cNvPr id="107" name="Picture 106" descr="phone-hindi-ffffff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33692" y="1188720"/>
            <a:ext cx="1562864" cy="3108960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238883" y="4370832"/>
            <a:ext cx="3429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Web app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3F4B5B"/>
                </a:solidFill>
                <a:latin typeface="Avenir Next"/>
              </a:rPr>
              <a:t>The same flow on desktop, with a sidebar.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033643" y="4370832"/>
            <a:ext cx="1379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1  Paste or share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3F4B5B"/>
                </a:solidFill>
                <a:latin typeface="Avenir Next"/>
              </a:rPr>
              <a:t>Text, photo, QR or voice note.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79387" y="4370832"/>
            <a:ext cx="1379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2  Act on a scam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3F4B5B"/>
                </a:solidFill>
                <a:latin typeface="Avenir Next"/>
              </a:rPr>
              <a:t>A complaint draft ready to file.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525132" y="4370832"/>
            <a:ext cx="1379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3  Hindi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3F4B5B"/>
                </a:solidFill>
                <a:latin typeface="Avenir Next"/>
              </a:rPr>
              <a:t>The whole app switches language.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81B32"/>
                </a:solidFill>
                <a:latin typeface="Avenir Next Demi Bold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365760" y="1234440"/>
            <a:ext cx="1645920" cy="1920240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3" name="Picture 112" descr="i-smartphone-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1353312"/>
            <a:ext cx="274320" cy="274320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493776" y="1709928"/>
            <a:ext cx="1426464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Person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3F4B5B"/>
                </a:solidFill>
                <a:latin typeface="Avenir Next"/>
              </a:rPr>
              <a:t>Browser or installed app (PWA), English and Hindi, Android share menu. Uploads go straight to Storage.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65760" y="3383280"/>
            <a:ext cx="1645920" cy="1316735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6" name="Picture 115" descr="g-fire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3502152"/>
            <a:ext cx="218084" cy="274320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493776" y="3858768"/>
            <a:ext cx="1426464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Firebase Auth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3F4B5B"/>
                </a:solidFill>
                <a:latin typeface="Avenir Next"/>
              </a:rPr>
              <a:t>Anonymous and Google sign-in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377440" y="1234440"/>
            <a:ext cx="22860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9" name="Picture 118" descr="g-fire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5456" y="1362456"/>
            <a:ext cx="218084" cy="274320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2851556" y="1353312"/>
            <a:ext cx="1720443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Firebase Hosting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3F4B5B"/>
                </a:solidFill>
                <a:latin typeface="Avenir Next"/>
              </a:rPr>
              <a:t>Web app; /api/** goes to the API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377440" y="2331720"/>
            <a:ext cx="2286000" cy="1280160"/>
          </a:xfrm>
          <a:prstGeom prst="roundRect">
            <a:avLst>
              <a:gd name="adj" fmla="val 5000"/>
            </a:avLst>
          </a:prstGeom>
          <a:solidFill>
            <a:srgbClr val="08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2" name="Picture 121" descr="g-cloud-ru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5456" y="2459736"/>
            <a:ext cx="303955" cy="274320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2937427" y="2450591"/>
            <a:ext cx="1634572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i="0">
                <a:solidFill>
                  <a:srgbClr val="FFFFFF"/>
                </a:solidFill>
                <a:latin typeface="Avenir Next Demi Bold"/>
              </a:rPr>
              <a:t>Cloud Run: API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C9D6EA"/>
                </a:solidFill>
                <a:latin typeface="Avenir Next"/>
              </a:rPr>
              <a:t>Stateless; 1 to 5 instances, one always warm. Limits, extraction, hard checks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2377440" y="3794760"/>
            <a:ext cx="2286000" cy="905255"/>
          </a:xfrm>
          <a:prstGeom prst="roundRect">
            <a:avLst>
              <a:gd name="adj" fmla="val 707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505456" y="3904488"/>
            <a:ext cx="2066543" cy="7589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Cost guard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3F4B5B"/>
                </a:solidFill>
                <a:latin typeface="Avenir Next"/>
              </a:rPr>
              <a:t>30 checks per user per day, 60 per IP per minute, 3,000 per day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120640" y="1234440"/>
            <a:ext cx="365760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7" name="Picture 126" descr="g-gemin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8655" y="1362456"/>
            <a:ext cx="274320" cy="274320"/>
          </a:xfrm>
          <a:prstGeom prst="rect">
            <a:avLst/>
          </a:prstGeom>
        </p:spPr>
      </p:pic>
      <p:pic>
        <p:nvPicPr>
          <p:cNvPr id="128" name="Picture 127" descr="g-vertex-a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7840" y="1362456"/>
            <a:ext cx="274320" cy="274320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5980176" y="1353312"/>
            <a:ext cx="2706623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Gemini on Vertex AI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3F4B5B"/>
                </a:solidFill>
                <a:latin typeface="Avenir Next"/>
              </a:rPr>
              <a:t>One multimodal call: text, image or audio in, structured verdict out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120640" y="2148840"/>
            <a:ext cx="36576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1" name="Picture 130" descr="g-firesto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48655" y="2276856"/>
            <a:ext cx="246888" cy="274320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5623559" y="2267712"/>
            <a:ext cx="3063240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Firestore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3F4B5B"/>
                </a:solidFill>
                <a:latin typeface="Avenir Next"/>
              </a:rPr>
              <a:t>Shared scam list, checks, reports, trend counters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120640" y="2953512"/>
            <a:ext cx="3657600" cy="804672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4" name="Picture 133" descr="g-cloud-ru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8655" y="3081528"/>
            <a:ext cx="303955" cy="274320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5680626" y="3072384"/>
            <a:ext cx="3006173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Cloud Run: link scanner (private)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3F4B5B"/>
                </a:solidFill>
                <a:latin typeface="Avenir Next"/>
              </a:rPr>
              <a:t>Isolated Chromium; scales to zero; zero-permission service account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120640" y="3986784"/>
            <a:ext cx="1783080" cy="713231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248655" y="4096512"/>
            <a:ext cx="1563624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i="0">
                <a:solidFill>
                  <a:srgbClr val="081B32"/>
                </a:solidFill>
                <a:latin typeface="Avenir Next Demi Bold"/>
              </a:rPr>
              <a:t>Cloud Storage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3F4B5B"/>
                </a:solidFill>
                <a:latin typeface="Avenir Next"/>
              </a:rPr>
              <a:t>Uploads, deleted after 7 days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995159" y="3986784"/>
            <a:ext cx="1783080" cy="713231"/>
          </a:xfrm>
          <a:prstGeom prst="roundRect">
            <a:avLst>
              <a:gd name="adj" fmla="val 8974"/>
            </a:avLst>
          </a:prstGeom>
          <a:solidFill>
            <a:srgbClr val="FD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123175" y="4096512"/>
            <a:ext cx="1563624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i="0">
                <a:solidFill>
                  <a:srgbClr val="B42318"/>
                </a:solidFill>
                <a:latin typeface="Avenir Next Demi Bold"/>
              </a:rPr>
              <a:t>Suspicious site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0B1F33"/>
                </a:solidFill>
                <a:latin typeface="Avenir Next"/>
              </a:rPr>
              <a:t>Opened only in the scanner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2011680" y="1664208"/>
            <a:ext cx="365760" cy="0"/>
          </a:xfrm>
          <a:prstGeom prst="line">
            <a:avLst/>
          </a:prstGeom>
          <a:ln w="22225">
            <a:solidFill>
              <a:srgbClr val="1764E8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3520440" y="2103120"/>
            <a:ext cx="0" cy="228600"/>
          </a:xfrm>
          <a:prstGeom prst="line">
            <a:avLst/>
          </a:prstGeom>
          <a:ln w="22225">
            <a:solidFill>
              <a:srgbClr val="1764E8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188720" y="3154680"/>
            <a:ext cx="0" cy="228600"/>
          </a:xfrm>
          <a:prstGeom prst="line">
            <a:avLst/>
          </a:prstGeom>
          <a:ln w="22225">
            <a:solidFill>
              <a:srgbClr val="1764E8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4663440" y="2468880"/>
            <a:ext cx="228600" cy="0"/>
          </a:xfrm>
          <a:prstGeom prst="line">
            <a:avLst/>
          </a:prstGeom>
          <a:ln w="22225">
            <a:solidFill>
              <a:srgbClr val="176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4892040" y="1645920"/>
            <a:ext cx="0" cy="822960"/>
          </a:xfrm>
          <a:prstGeom prst="line">
            <a:avLst/>
          </a:prstGeom>
          <a:ln w="22225">
            <a:solidFill>
              <a:srgbClr val="176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4892040" y="1645920"/>
            <a:ext cx="228600" cy="0"/>
          </a:xfrm>
          <a:prstGeom prst="line">
            <a:avLst/>
          </a:prstGeom>
          <a:ln w="22225">
            <a:solidFill>
              <a:srgbClr val="1764E8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4663440" y="2697480"/>
            <a:ext cx="457200" cy="0"/>
          </a:xfrm>
          <a:prstGeom prst="line">
            <a:avLst/>
          </a:prstGeom>
          <a:ln w="22225">
            <a:solidFill>
              <a:srgbClr val="1764E8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4663440" y="3200400"/>
            <a:ext cx="457200" cy="0"/>
          </a:xfrm>
          <a:prstGeom prst="line">
            <a:avLst/>
          </a:prstGeom>
          <a:ln w="22225">
            <a:solidFill>
              <a:srgbClr val="1764E8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4663440" y="3456432"/>
            <a:ext cx="228600" cy="0"/>
          </a:xfrm>
          <a:prstGeom prst="line">
            <a:avLst/>
          </a:prstGeom>
          <a:ln w="22225">
            <a:solidFill>
              <a:srgbClr val="176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4892040" y="3456432"/>
            <a:ext cx="0" cy="886968"/>
          </a:xfrm>
          <a:prstGeom prst="line">
            <a:avLst/>
          </a:prstGeom>
          <a:ln w="22225">
            <a:solidFill>
              <a:srgbClr val="176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4892040" y="4343400"/>
            <a:ext cx="228600" cy="0"/>
          </a:xfrm>
          <a:prstGeom prst="line">
            <a:avLst/>
          </a:prstGeom>
          <a:ln w="22225">
            <a:solidFill>
              <a:srgbClr val="1764E8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7863840" y="3758184"/>
            <a:ext cx="0" cy="228600"/>
          </a:xfrm>
          <a:prstGeom prst="line">
            <a:avLst/>
          </a:prstGeom>
          <a:ln w="22225">
            <a:solidFill>
              <a:srgbClr val="B42318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365760" y="4773168"/>
            <a:ext cx="84124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i="0">
                <a:solidFill>
                  <a:srgbClr val="3F4B5B"/>
                </a:solidFill>
                <a:latin typeface="Avenir Next"/>
              </a:rPr>
              <a:t>Product names and icons are trademarks of Google LLC, shown only to identify the technologies used. No endorsement or affiliation implied.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81B32"/>
                </a:solidFill>
                <a:latin typeface="Avenir Next Demi Bold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365760" y="1207008"/>
            <a:ext cx="3931920" cy="3493007"/>
          </a:xfrm>
          <a:prstGeom prst="roundRect">
            <a:avLst>
              <a:gd name="adj" fmla="val 2356"/>
            </a:avLst>
          </a:prstGeom>
          <a:solidFill>
            <a:srgbClr val="08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548640" y="1389888"/>
            <a:ext cx="1024128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2" name="Picture 121" descr="g-gemin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463040"/>
            <a:ext cx="274320" cy="274320"/>
          </a:xfrm>
          <a:prstGeom prst="rect">
            <a:avLst/>
          </a:prstGeom>
        </p:spPr>
      </p:pic>
      <p:pic>
        <p:nvPicPr>
          <p:cNvPr id="123" name="Picture 122" descr="g-vertex-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1463040"/>
            <a:ext cx="274320" cy="274320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1691640" y="1389888"/>
            <a:ext cx="246887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i="0">
                <a:solidFill>
                  <a:srgbClr val="FFFFFF"/>
                </a:solidFill>
                <a:latin typeface="Avenir Next Demi Bold"/>
              </a:rPr>
              <a:t>Gen AI that does real work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66928" y="2011680"/>
            <a:ext cx="3529584" cy="2578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4C9E8"/>
              </a:buClr>
              <a:buFont typeface="Arial"/>
              <a:buChar char="•"/>
            </a:pPr>
            <a:r>
              <a:rPr sz="1200" i="0">
                <a:solidFill>
                  <a:srgbClr val="34C9E8"/>
                </a:solidFill>
                <a:latin typeface="Avenir Next Demi Bold"/>
              </a:rPr>
              <a:t>Gemini 3.7 Flash </a:t>
            </a:r>
            <a:r>
              <a:rPr sz="1200" i="0">
                <a:solidFill>
                  <a:srgbClr val="FFFFFF"/>
                </a:solidFill>
                <a:latin typeface="Avenir Next"/>
              </a:rPr>
              <a:t>on Vertex AI, with Gemini 2.5 Flash as automatic fallback</a:t>
            </a:r>
          </a:p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4C9E8"/>
              </a:buClr>
              <a:buFont typeface="Arial"/>
              <a:buChar char="•"/>
            </a:pPr>
            <a:r>
              <a:rPr sz="1200" i="0">
                <a:solidFill>
                  <a:srgbClr val="34C9E8"/>
                </a:solidFill>
                <a:latin typeface="Avenir Next Demi Bold"/>
              </a:rPr>
              <a:t>One multimodal call </a:t>
            </a:r>
            <a:r>
              <a:rPr sz="1200" i="0">
                <a:solidFill>
                  <a:srgbClr val="FFFFFF"/>
                </a:solidFill>
                <a:latin typeface="Avenir Next"/>
              </a:rPr>
              <a:t>reads text, screenshots and audio (Hinglish voice)</a:t>
            </a:r>
          </a:p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4C9E8"/>
              </a:buClr>
              <a:buFont typeface="Arial"/>
              <a:buChar char="•"/>
            </a:pPr>
            <a:r>
              <a:rPr sz="1200" i="0">
                <a:solidFill>
                  <a:srgbClr val="34C9E8"/>
                </a:solidFill>
                <a:latin typeface="Avenir Next Demi Bold"/>
              </a:rPr>
              <a:t>Schema-validated output; </a:t>
            </a:r>
            <a:r>
              <a:rPr sz="1200" i="0">
                <a:solidFill>
                  <a:srgbClr val="FFFFFF"/>
                </a:solidFill>
                <a:latin typeface="Avenir Next"/>
              </a:rPr>
              <a:t>every red flag quotes evidence; English or Hindi</a:t>
            </a:r>
          </a:p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4C9E8"/>
              </a:buClr>
              <a:buFont typeface="Arial"/>
              <a:buChar char="•"/>
            </a:pPr>
            <a:r>
              <a:rPr sz="1200" i="0">
                <a:solidFill>
                  <a:srgbClr val="34C9E8"/>
                </a:solidFill>
                <a:latin typeface="Avenir Next Demi Bold"/>
              </a:rPr>
              <a:t>Hard checks only raise </a:t>
            </a:r>
            <a:r>
              <a:rPr sz="1200" i="0">
                <a:solidFill>
                  <a:srgbClr val="FFFFFF"/>
                </a:solidFill>
                <a:latin typeface="Avenir Next"/>
              </a:rPr>
              <a:t>the verdict: scam list, QR pay-vs-receive</a:t>
            </a:r>
          </a:p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4C9E8"/>
              </a:buClr>
              <a:buFont typeface="Arial"/>
              <a:buChar char="•"/>
            </a:pPr>
            <a:r>
              <a:rPr sz="1200" i="0">
                <a:solidFill>
                  <a:srgbClr val="34C9E8"/>
                </a:solidFill>
                <a:latin typeface="Avenir Next Demi Bold"/>
              </a:rPr>
              <a:t>Does what rules cannot: </a:t>
            </a:r>
            <a:r>
              <a:rPr sz="1200" i="0">
                <a:solidFill>
                  <a:srgbClr val="FFFFFF"/>
                </a:solidFill>
                <a:latin typeface="Avenir Next"/>
              </a:rPr>
              <a:t>unreported scams, images, voice</a:t>
            </a:r>
          </a:p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4C9E8"/>
              </a:buClr>
              <a:buFont typeface="Arial"/>
              <a:buChar char="•"/>
            </a:pPr>
            <a:r>
              <a:rPr sz="1200" i="0">
                <a:solidFill>
                  <a:srgbClr val="34C9E8"/>
                </a:solidFill>
                <a:latin typeface="Avenir Next Demi Bold"/>
              </a:rPr>
              <a:t>WebMCP agent tools: </a:t>
            </a:r>
            <a:r>
              <a:rPr sz="1200" i="0">
                <a:solidFill>
                  <a:srgbClr val="FFFFFF"/>
                </a:solidFill>
                <a:latin typeface="Avenir Next"/>
              </a:rPr>
              <a:t>check_message and report_scam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480560" y="1207008"/>
            <a:ext cx="4297679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663440" y="1335024"/>
            <a:ext cx="393191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764E8"/>
                </a:solidFill>
                <a:latin typeface="Avenir Next Demi Bold"/>
              </a:rPr>
              <a:t>Google Cloud and Firebase, built to scale</a:t>
            </a:r>
          </a:p>
        </p:txBody>
      </p:sp>
      <p:pic>
        <p:nvPicPr>
          <p:cNvPr id="128" name="Picture 127" descr="g-google-clou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1664208"/>
            <a:ext cx="340770" cy="274320"/>
          </a:xfrm>
          <a:prstGeom prst="rect">
            <a:avLst/>
          </a:prstGeom>
        </p:spPr>
      </p:pic>
      <p:pic>
        <p:nvPicPr>
          <p:cNvPr id="129" name="Picture 128" descr="g-cloud-ru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7090" y="1664208"/>
            <a:ext cx="303955" cy="274320"/>
          </a:xfrm>
          <a:prstGeom prst="rect">
            <a:avLst/>
          </a:prstGeom>
        </p:spPr>
      </p:pic>
      <p:pic>
        <p:nvPicPr>
          <p:cNvPr id="130" name="Picture 129" descr="g-firesto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73925" y="1664208"/>
            <a:ext cx="246888" cy="274320"/>
          </a:xfrm>
          <a:prstGeom prst="rect">
            <a:avLst/>
          </a:prstGeom>
        </p:spPr>
      </p:pic>
      <p:pic>
        <p:nvPicPr>
          <p:cNvPr id="131" name="Picture 130" descr="g-fireba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3693" y="1664208"/>
            <a:ext cx="218084" cy="274320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4663440" y="2029968"/>
            <a:ext cx="3931919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764E8"/>
              </a:buClr>
              <a:buFont typeface="Arial"/>
              <a:buChar char="•"/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Cloud Run API: </a:t>
            </a:r>
            <a:r>
              <a:rPr sz="1200" i="0">
                <a:solidFill>
                  <a:srgbClr val="0B1F33"/>
                </a:solidFill>
                <a:latin typeface="Avenir Next"/>
              </a:rPr>
              <a:t>stateless and autoscaling</a:t>
            </a:r>
          </a:p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764E8"/>
              </a:buClr>
              <a:buFont typeface="Arial"/>
              <a:buChar char="•"/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Link scanner: </a:t>
            </a:r>
            <a:r>
              <a:rPr sz="1200" i="0">
                <a:solidFill>
                  <a:srgbClr val="0B1F33"/>
                </a:solidFill>
                <a:latin typeface="Avenir Next"/>
              </a:rPr>
              <a:t>scales to zero, own zero-permission service account</a:t>
            </a:r>
          </a:p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64E8"/>
              </a:buClr>
              <a:buFont typeface="Arial"/>
              <a:buChar char="•"/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Firestore </a:t>
            </a:r>
            <a:r>
              <a:rPr sz="1200" i="0">
                <a:solidFill>
                  <a:srgbClr val="0B1F33"/>
                </a:solidFill>
                <a:latin typeface="Avenir Next"/>
              </a:rPr>
              <a:t>shared scam list; </a:t>
            </a:r>
            <a:r>
              <a:rPr sz="1200" i="0">
                <a:solidFill>
                  <a:srgbClr val="081B32"/>
                </a:solidFill>
                <a:latin typeface="Avenir Next Demi Bold"/>
              </a:rPr>
              <a:t>Firebase </a:t>
            </a:r>
            <a:r>
              <a:rPr sz="1200" i="0">
                <a:solidFill>
                  <a:srgbClr val="0B1F33"/>
                </a:solidFill>
                <a:latin typeface="Avenir Next"/>
              </a:rPr>
              <a:t>Hosting, Auth, Storage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480560" y="3310128"/>
            <a:ext cx="4297679" cy="1389887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663440" y="3438144"/>
            <a:ext cx="393191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764E8"/>
                </a:solidFill>
                <a:latin typeface="Avenir Next Demi Bold"/>
              </a:rPr>
              <a:t>Application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4663440" y="3767328"/>
            <a:ext cx="713564" cy="237744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663440" y="3767328"/>
            <a:ext cx="71356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0B1F33"/>
                </a:solidFill>
                <a:latin typeface="Avenir Next Medium"/>
              </a:rPr>
              <a:t>React 18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441012" y="3767328"/>
            <a:ext cx="448222" cy="237744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441012" y="3767328"/>
            <a:ext cx="44822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0B1F33"/>
                </a:solidFill>
                <a:latin typeface="Avenir Next Medium"/>
              </a:rPr>
              <a:t>Vite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953242" y="3767328"/>
            <a:ext cx="713564" cy="237744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953242" y="3767328"/>
            <a:ext cx="71356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0B1F33"/>
                </a:solidFill>
                <a:latin typeface="Avenir Next Medium"/>
              </a:rPr>
              <a:t>Tailwind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730815" y="3767328"/>
            <a:ext cx="912571" cy="237744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730815" y="3767328"/>
            <a:ext cx="912571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0B1F33"/>
                </a:solidFill>
                <a:latin typeface="Avenir Next Medium"/>
              </a:rPr>
              <a:t>Workbox PWA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7707394" y="3767328"/>
            <a:ext cx="647228" cy="237744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707394" y="3767328"/>
            <a:ext cx="64722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0B1F33"/>
                </a:solidFill>
                <a:latin typeface="Avenir Next Medium"/>
              </a:rPr>
              <a:t>Node 22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663440" y="4069080"/>
            <a:ext cx="846235" cy="237744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663440" y="4069080"/>
            <a:ext cx="846235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0B1F33"/>
                </a:solidFill>
                <a:latin typeface="Avenir Next Medium"/>
              </a:rPr>
              <a:t>TypeScript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573683" y="4069080"/>
            <a:ext cx="448222" cy="237744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573683" y="4069080"/>
            <a:ext cx="44822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0B1F33"/>
                </a:solidFill>
                <a:latin typeface="Avenir Next Medium"/>
              </a:rPr>
              <a:t>Hono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085913" y="4069080"/>
            <a:ext cx="381886" cy="237744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085913" y="4069080"/>
            <a:ext cx="38188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0B1F33"/>
                </a:solidFill>
                <a:latin typeface="Avenir Next Medium"/>
              </a:rPr>
              <a:t>zod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531808" y="4069080"/>
            <a:ext cx="846235" cy="237744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531808" y="4069080"/>
            <a:ext cx="846235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0B1F33"/>
                </a:solidFill>
                <a:latin typeface="Avenir Next Medium"/>
              </a:rPr>
              <a:t>Playwright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7442052" y="4069080"/>
            <a:ext cx="978906" cy="237744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442052" y="4069080"/>
            <a:ext cx="97890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0B1F33"/>
                </a:solidFill>
                <a:latin typeface="Avenir Next Medium"/>
              </a:rPr>
              <a:t>sharp + jsQR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663440" y="4398264"/>
            <a:ext cx="39319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590+ automated tests</a:t>
            </a:r>
            <a:r>
              <a:rPr sz="1200" i="0">
                <a:solidFill>
                  <a:srgbClr val="0B1F33"/>
                </a:solidFill>
                <a:latin typeface="Avenir Next"/>
              </a:rPr>
              <a:t>, plus a 185-case live benchmark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65760" y="4773168"/>
            <a:ext cx="84124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i="0">
                <a:solidFill>
                  <a:srgbClr val="3F4B5B"/>
                </a:solidFill>
                <a:latin typeface="Avenir Next"/>
              </a:rPr>
              <a:t>Product names and icons are trademarks of Google LLC, shown only to identify the technologies used. No endorsement or affiliation implied.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81B32"/>
                </a:solidFill>
                <a:latin typeface="Avenir Next Demi Bold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Rounded Rectangle 127"/>
          <p:cNvSpPr/>
          <p:nvPr/>
        </p:nvSpPr>
        <p:spPr>
          <a:xfrm>
            <a:off x="365760" y="1207008"/>
            <a:ext cx="267919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548640" y="1353312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48640" y="1353312"/>
            <a:ext cx="914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>
                <a:solidFill>
                  <a:srgbClr val="1764E8"/>
                </a:solidFill>
                <a:latin typeface="Avenir Next Demi Bold"/>
              </a:rPr>
              <a:t>FIXED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48640" y="1664208"/>
            <a:ext cx="23134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i="0">
                <a:solidFill>
                  <a:srgbClr val="081B32"/>
                </a:solidFill>
                <a:latin typeface="Avenir Next Demi Bold"/>
              </a:rPr>
              <a:t>about US$13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48640" y="2075688"/>
            <a:ext cx="23134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3F4B5B"/>
                </a:solidFill>
                <a:latin typeface="Avenir Next"/>
              </a:rPr>
              <a:t>per month (estimate)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548640" y="2359152"/>
            <a:ext cx="2313432" cy="0"/>
          </a:xfrm>
          <a:prstGeom prst="line">
            <a:avLst/>
          </a:prstGeom>
          <a:ln w="9525">
            <a:solidFill>
              <a:srgbClr val="D5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548640" y="2432304"/>
            <a:ext cx="2313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0B1F33"/>
                </a:solidFill>
                <a:latin typeface="Avenir Next"/>
              </a:rPr>
              <a:t>One Cloud Run API instance kept warm (1 vCPU, 1 GiB, Mumbai) at US$0.0000025 per vCPU-second and per GiB-second, before any free tier.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3227832" y="1207008"/>
            <a:ext cx="267919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3410712" y="1353312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410712" y="1353312"/>
            <a:ext cx="107899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>
                <a:solidFill>
                  <a:srgbClr val="1764E8"/>
                </a:solidFill>
                <a:latin typeface="Avenir Next Demi Bold"/>
              </a:rPr>
              <a:t>PER CHECK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410712" y="1664208"/>
            <a:ext cx="23134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i="0">
                <a:solidFill>
                  <a:srgbClr val="081B32"/>
                </a:solidFill>
                <a:latin typeface="Avenir Next Demi Bold"/>
              </a:rPr>
              <a:t>US$0.004–0.008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410712" y="2075688"/>
            <a:ext cx="23134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3F4B5B"/>
                </a:solidFill>
                <a:latin typeface="Avenir Next"/>
              </a:rPr>
              <a:t>per text check (estimate)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3410712" y="2359152"/>
            <a:ext cx="2313432" cy="0"/>
          </a:xfrm>
          <a:prstGeom prst="line">
            <a:avLst/>
          </a:prstGeom>
          <a:ln w="9525">
            <a:solidFill>
              <a:srgbClr val="D5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3410712" y="2432304"/>
            <a:ext cx="2313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0B1F33"/>
                </a:solidFill>
                <a:latin typeface="Avenir Next"/>
              </a:rPr>
              <a:t>Gemini 3.7 Flash at about 2,500 input and 500 to 1,500 output tokens. US$0.75 in, US$3.75 out per 1M tokens to 31 Dec 2026; double after.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089904" y="1207008"/>
            <a:ext cx="267919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6272784" y="1353312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272784" y="1353312"/>
            <a:ext cx="107899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>
                <a:solidFill>
                  <a:srgbClr val="1764E8"/>
                </a:solidFill>
                <a:latin typeface="Avenir Next Demi Bold"/>
              </a:rPr>
              <a:t>FREE TIERS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272784" y="1664208"/>
            <a:ext cx="23134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i="0">
                <a:solidFill>
                  <a:srgbClr val="081B32"/>
                </a:solidFill>
                <a:latin typeface="Avenir Next Demi Bold"/>
              </a:rPr>
              <a:t>Free tiers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272784" y="2075688"/>
            <a:ext cx="23134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3F4B5B"/>
                </a:solidFill>
                <a:latin typeface="Avenir Next"/>
              </a:rPr>
              <a:t>expected at this volume (estimate)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6272784" y="2359152"/>
            <a:ext cx="2313432" cy="0"/>
          </a:xfrm>
          <a:prstGeom prst="line">
            <a:avLst/>
          </a:prstGeom>
          <a:ln w="9525">
            <a:solidFill>
              <a:srgbClr val="D5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6272784" y="2432304"/>
            <a:ext cx="2313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0B1F33"/>
                </a:solidFill>
                <a:latin typeface="Avenir Next"/>
              </a:rPr>
              <a:t>Firebase Hosting, Auth, Firestore and Storage are expected to stay inside free tiers. The link scanner bills only while it scans.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65760" y="3602736"/>
            <a:ext cx="8412480" cy="1316735"/>
          </a:xfrm>
          <a:prstGeom prst="roundRect">
            <a:avLst>
              <a:gd name="adj" fmla="val 5555"/>
            </a:avLst>
          </a:prstGeom>
          <a:solidFill>
            <a:srgbClr val="08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48640" y="3785616"/>
            <a:ext cx="2499359" cy="1088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i="0">
                <a:solidFill>
                  <a:srgbClr val="34C9E8"/>
                </a:solidFill>
                <a:latin typeface="Avenir Next Demi Bold"/>
              </a:rPr>
              <a:t>Limits are the real control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FFFFFF"/>
                </a:solidFill>
                <a:latin typeface="Avenir Next"/>
              </a:rPr>
              <a:t>30 checks per user per day, 60 per IP per minute, 3,000 per day overall. These cap spending.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230880" y="3785616"/>
            <a:ext cx="2499359" cy="1088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i="0">
                <a:solidFill>
                  <a:srgbClr val="34C9E8"/>
                </a:solidFill>
                <a:latin typeface="Avenir Next Demi Bold"/>
              </a:rPr>
              <a:t>Ceiling at the daily cap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FFFFFF"/>
                </a:solidFill>
                <a:latin typeface="Avenir Next"/>
              </a:rPr>
              <a:t>3,000 checks at the per-check estimate is about US$11 to 23 per day for Gemini.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913120" y="3785616"/>
            <a:ext cx="2499359" cy="1088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i="0">
                <a:solidFill>
                  <a:srgbClr val="34C9E8"/>
                </a:solidFill>
                <a:latin typeface="Avenir Next Demi Bold"/>
              </a:rPr>
              <a:t>Budget alert: Rs 2,000 a month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FFFFFF"/>
                </a:solidFill>
                <a:latin typeface="Avenir Next"/>
              </a:rPr>
              <a:t>Alerts at 50%, 90% and 100% (Rs 1,000, Rs 1,800, Rs 2,000). An alert notifies; it does not stop spending.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81B32"/>
                </a:solidFill>
                <a:latin typeface="Avenir Next Demi Bold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6" name="Rounded Rectangle 135"/>
          <p:cNvSpPr/>
          <p:nvPr/>
        </p:nvSpPr>
        <p:spPr>
          <a:xfrm>
            <a:off x="365760" y="1207008"/>
            <a:ext cx="8412480" cy="2743200"/>
          </a:xfrm>
          <a:prstGeom prst="roundRect">
            <a:avLst>
              <a:gd name="adj" fmla="val 4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7" name="Picture 136" descr="phone-scam-f1f5fb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302" y="1280160"/>
            <a:ext cx="1314644" cy="2615184"/>
          </a:xfrm>
          <a:prstGeom prst="rect">
            <a:avLst/>
          </a:prstGeom>
        </p:spPr>
      </p:pic>
      <p:pic>
        <p:nvPicPr>
          <p:cNvPr id="138" name="Picture 137" descr="phone-qr-f1f5fb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93490" y="1280160"/>
            <a:ext cx="1314644" cy="2615184"/>
          </a:xfrm>
          <a:prstGeom prst="rect">
            <a:avLst/>
          </a:prstGeom>
        </p:spPr>
      </p:pic>
      <p:pic>
        <p:nvPicPr>
          <p:cNvPr id="139" name="Picture 138" descr="phone-nosigns-f1f5fb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14677" y="1280160"/>
            <a:ext cx="1314644" cy="2615184"/>
          </a:xfrm>
          <a:prstGeom prst="rect">
            <a:avLst/>
          </a:prstGeom>
        </p:spPr>
      </p:pic>
      <p:pic>
        <p:nvPicPr>
          <p:cNvPr id="140" name="Picture 139" descr="phone-hivoice-f1f5fb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35865" y="1280160"/>
            <a:ext cx="1314644" cy="2615184"/>
          </a:xfrm>
          <a:prstGeom prst="rect">
            <a:avLst/>
          </a:prstGeom>
        </p:spPr>
      </p:pic>
      <p:pic>
        <p:nvPicPr>
          <p:cNvPr id="141" name="Picture 140" descr="phone-report-f1f5fb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57052" y="1280160"/>
            <a:ext cx="1314644" cy="2615184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555607" y="4005072"/>
            <a:ext cx="15480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i="0">
                <a:solidFill>
                  <a:srgbClr val="B42318"/>
                </a:solidFill>
                <a:latin typeface="Avenir Next Demi Bold"/>
              </a:rPr>
              <a:t>Scam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3F4B5B"/>
                </a:solidFill>
                <a:latin typeface="Avenir Next"/>
              </a:rPr>
              <a:t>Fake KYC SMS, evidence quoted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176794" y="4005072"/>
            <a:ext cx="15480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i="0">
                <a:solidFill>
                  <a:srgbClr val="B42318"/>
                </a:solidFill>
                <a:latin typeface="Avenir Next Demi Bold"/>
              </a:rPr>
              <a:t>Scam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3F4B5B"/>
                </a:solidFill>
                <a:latin typeface="Avenir Next"/>
              </a:rPr>
              <a:t>QR asks you to pay, text says receive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797982" y="4005072"/>
            <a:ext cx="15480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i="0">
                <a:solidFill>
                  <a:srgbClr val="475467"/>
                </a:solidFill>
                <a:latin typeface="Avenir Next Demi Bold"/>
              </a:rPr>
              <a:t>No scam signs found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3F4B5B"/>
                </a:solidFill>
                <a:latin typeface="Avenir Next"/>
              </a:rPr>
              <a:t>A genuine bank alert; not a guarantee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419169" y="4005072"/>
            <a:ext cx="15480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i="0">
                <a:solidFill>
                  <a:srgbClr val="B42318"/>
                </a:solidFill>
                <a:latin typeface="Avenir Next Demi Bold"/>
              </a:rPr>
              <a:t>Scam, in Hindi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3F4B5B"/>
                </a:solidFill>
                <a:latin typeface="Avenir Next"/>
              </a:rPr>
              <a:t>Hinglish voice note, fake police call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040357" y="4005072"/>
            <a:ext cx="15480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Report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3F4B5B"/>
                </a:solidFill>
                <a:latin typeface="Avenir Next"/>
              </a:rPr>
              <a:t>Adds it to the shared scam list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65760" y="4626864"/>
            <a:ext cx="8412480" cy="292608"/>
          </a:xfrm>
          <a:prstGeom prst="roundRect">
            <a:avLst>
              <a:gd name="adj" fmla="val 21874"/>
            </a:avLst>
          </a:prstGeom>
          <a:solidFill>
            <a:srgbClr val="08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48640" y="4626864"/>
            <a:ext cx="804671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>
                <a:solidFill>
                  <a:srgbClr val="34C9E8"/>
                </a:solidFill>
                <a:latin typeface="Avenir Next Demi Bold"/>
              </a:rPr>
              <a:t>Live benchmark, </a:t>
            </a:r>
            <a:r>
              <a:rPr sz="1050" i="0">
                <a:solidFill>
                  <a:srgbClr val="FFFFFF"/>
                </a:solidFill>
                <a:latin typeface="Avenir Next"/>
              </a:rPr>
              <a:t>185 cases over 3 runs: 98.3% accuracy, 100% scam recall, 3.3% false positives (3 of 90 genuine)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81B32"/>
                </a:solidFill>
                <a:latin typeface="Avenir Next Demi Bold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365760" y="1207008"/>
            <a:ext cx="1965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65760" y="1261872"/>
            <a:ext cx="1965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i="0">
                <a:solidFill>
                  <a:srgbClr val="1764E8"/>
                </a:solidFill>
                <a:latin typeface="Avenir Next Demi Bold"/>
              </a:rPr>
              <a:t>98.3%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1645920"/>
            <a:ext cx="1965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3F4B5B"/>
                </a:solidFill>
                <a:latin typeface="Avenir Next"/>
              </a:rPr>
              <a:t>Accuracy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514600" y="1207008"/>
            <a:ext cx="1965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514600" y="1261872"/>
            <a:ext cx="1965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i="0">
                <a:solidFill>
                  <a:srgbClr val="1764E8"/>
                </a:solidFill>
                <a:latin typeface="Avenir Next Demi Bold"/>
              </a:rPr>
              <a:t>100%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514600" y="1645920"/>
            <a:ext cx="1965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3F4B5B"/>
                </a:solidFill>
                <a:latin typeface="Avenir Next"/>
              </a:rPr>
              <a:t>Scam recall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663440" y="1207008"/>
            <a:ext cx="1965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663440" y="1261872"/>
            <a:ext cx="1965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i="0">
                <a:solidFill>
                  <a:srgbClr val="1764E8"/>
                </a:solidFill>
                <a:latin typeface="Avenir Next Demi Bold"/>
              </a:rPr>
              <a:t>3.3%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663440" y="1645920"/>
            <a:ext cx="1965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3F4B5B"/>
                </a:solidFill>
                <a:latin typeface="Avenir Next"/>
              </a:rPr>
              <a:t>False-positive rate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812280" y="1207008"/>
            <a:ext cx="1965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812280" y="1261872"/>
            <a:ext cx="1965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i="0">
                <a:solidFill>
                  <a:srgbClr val="1764E8"/>
                </a:solidFill>
                <a:latin typeface="Avenir Next Demi Bold"/>
              </a:rPr>
              <a:t>96.7%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812280" y="1645920"/>
            <a:ext cx="1965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3F4B5B"/>
                </a:solidFill>
                <a:latin typeface="Avenir Next"/>
              </a:rPr>
              <a:t>Scam type correct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65760" y="1993392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3F4B5B"/>
                </a:solidFill>
                <a:latin typeface="Avenir Next"/>
              </a:rPr>
              <a:t>185 synthetic cases over 3 live runs: 90 scams, 90 genuine, 5 ambiguous (not scored). Accuracy is 177 of 180 scored.</a:t>
            </a:r>
          </a:p>
        </p:txBody>
      </p:sp>
      <p:graphicFrame>
        <p:nvGraphicFramePr>
          <p:cNvPr id="157" name="Table 156"/>
          <p:cNvGraphicFramePr>
            <a:graphicFrameLocks noGrp="1"/>
          </p:cNvGraphicFramePr>
          <p:nvPr/>
        </p:nvGraphicFramePr>
        <p:xfrm>
          <a:off x="365760" y="2240280"/>
          <a:ext cx="5074920" cy="1280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17320"/>
                <a:gridCol w="548640"/>
                <a:gridCol w="822960"/>
                <a:gridCol w="960120"/>
                <a:gridCol w="1325880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i="0">
                          <a:solidFill>
                            <a:srgbClr val="FFFFFF"/>
                          </a:solidFill>
                          <a:latin typeface="Avenir Next Demi Bold"/>
                        </a:rPr>
                        <a:t>Run</a:t>
                      </a:r>
                    </a:p>
                  </a:txBody>
                  <a:tcPr marL="54864" marR="54864" marT="18288" marB="18288" anchor="ctr">
                    <a:solidFill>
                      <a:srgbClr val="081B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i="0">
                          <a:solidFill>
                            <a:srgbClr val="FFFFFF"/>
                          </a:solidFill>
                          <a:latin typeface="Avenir Next Demi Bold"/>
                        </a:rPr>
                        <a:t>Cases</a:t>
                      </a:r>
                    </a:p>
                  </a:txBody>
                  <a:tcPr marL="54864" marR="54864" marT="18288" marB="18288" anchor="ctr">
                    <a:solidFill>
                      <a:srgbClr val="081B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i="0">
                          <a:solidFill>
                            <a:srgbClr val="FFFFFF"/>
                          </a:solidFill>
                          <a:latin typeface="Avenir Next Demi Bold"/>
                        </a:rPr>
                        <a:t>Accuracy</a:t>
                      </a:r>
                    </a:p>
                  </a:txBody>
                  <a:tcPr marL="54864" marR="54864" marT="18288" marB="18288" anchor="ctr">
                    <a:solidFill>
                      <a:srgbClr val="081B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i="0">
                          <a:solidFill>
                            <a:srgbClr val="FFFFFF"/>
                          </a:solidFill>
                          <a:latin typeface="Avenir Next Demi Bold"/>
                        </a:rPr>
                        <a:t>Scam recall</a:t>
                      </a:r>
                    </a:p>
                  </a:txBody>
                  <a:tcPr marL="54864" marR="54864" marT="18288" marB="18288" anchor="ctr">
                    <a:solidFill>
                      <a:srgbClr val="081B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i="0">
                          <a:solidFill>
                            <a:srgbClr val="FFFFFF"/>
                          </a:solidFill>
                          <a:latin typeface="Avenir Next Demi Bold"/>
                        </a:rPr>
                        <a:t>False positives</a:t>
                      </a:r>
                    </a:p>
                  </a:txBody>
                  <a:tcPr marL="54864" marR="54864" marT="18288" marB="18288" anchor="ctr">
                    <a:solidFill>
                      <a:srgbClr val="081B3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i="0">
                          <a:solidFill>
                            <a:srgbClr val="0B1F33"/>
                          </a:solidFill>
                          <a:latin typeface="Avenir Next Demi Bold"/>
                        </a:rPr>
                        <a:t>v1  original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i="0">
                          <a:solidFill>
                            <a:srgbClr val="0B1F33"/>
                          </a:solidFill>
                          <a:latin typeface="Avenir Next"/>
                        </a:rPr>
                        <a:t>50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i="0">
                          <a:solidFill>
                            <a:srgbClr val="0B1F33"/>
                          </a:solidFill>
                          <a:latin typeface="Avenir Next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i="0">
                          <a:solidFill>
                            <a:srgbClr val="0B1F33"/>
                          </a:solidFill>
                          <a:latin typeface="Avenir Next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i="0">
                          <a:solidFill>
                            <a:srgbClr val="0B1F33"/>
                          </a:solidFill>
                          <a:latin typeface="Avenir Next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i="0">
                          <a:solidFill>
                            <a:srgbClr val="0B1F33"/>
                          </a:solidFill>
                          <a:latin typeface="Avenir Next Demi Bold"/>
                        </a:rPr>
                        <a:t>v2  harder cases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i="0">
                          <a:solidFill>
                            <a:srgbClr val="0B1F33"/>
                          </a:solidFill>
                          <a:latin typeface="Avenir Next"/>
                        </a:rPr>
                        <a:t>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i="0">
                          <a:solidFill>
                            <a:srgbClr val="0B1F33"/>
                          </a:solidFill>
                          <a:latin typeface="Avenir Next"/>
                        </a:rPr>
                        <a:t>93.3%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i="0">
                          <a:solidFill>
                            <a:srgbClr val="0B1F33"/>
                          </a:solidFill>
                          <a:latin typeface="Avenir Next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i="0">
                          <a:solidFill>
                            <a:srgbClr val="0B1F33"/>
                          </a:solidFill>
                          <a:latin typeface="Avenir Next"/>
                        </a:rPr>
                        <a:t>12.5%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i="0">
                          <a:solidFill>
                            <a:srgbClr val="0B1F33"/>
                          </a:solidFill>
                          <a:latin typeface="Avenir Next Demi Bold"/>
                        </a:rPr>
                        <a:t>v3  realistic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i="0">
                          <a:solidFill>
                            <a:srgbClr val="0B1F33"/>
                          </a:solidFill>
                          <a:latin typeface="Avenir Next"/>
                        </a:rPr>
                        <a:t>100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i="0">
                          <a:solidFill>
                            <a:srgbClr val="0B1F33"/>
                          </a:solidFill>
                          <a:latin typeface="Avenir Next"/>
                        </a:rPr>
                        <a:t>99.0%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i="0">
                          <a:solidFill>
                            <a:srgbClr val="0B1F33"/>
                          </a:solidFill>
                          <a:latin typeface="Avenir Next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i="0">
                          <a:solidFill>
                            <a:srgbClr val="0B1F33"/>
                          </a:solidFill>
                          <a:latin typeface="Avenir Next"/>
                        </a:rPr>
                        <a:t>2.0%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i="0">
                          <a:solidFill>
                            <a:srgbClr val="081B32"/>
                          </a:solidFill>
                          <a:latin typeface="Avenir Next Demi Bold"/>
                        </a:rPr>
                        <a:t>Combined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i="0">
                          <a:solidFill>
                            <a:srgbClr val="081B32"/>
                          </a:solidFill>
                          <a:latin typeface="Avenir Next Demi Bold"/>
                        </a:rPr>
                        <a:t>185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i="0">
                          <a:solidFill>
                            <a:srgbClr val="081B32"/>
                          </a:solidFill>
                          <a:latin typeface="Avenir Next Demi Bold"/>
                        </a:rPr>
                        <a:t>98.3%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i="0">
                          <a:solidFill>
                            <a:srgbClr val="081B32"/>
                          </a:solidFill>
                          <a:latin typeface="Avenir Next Demi Bold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i="0">
                          <a:solidFill>
                            <a:srgbClr val="081B32"/>
                          </a:solidFill>
                          <a:latin typeface="Avenir Next Demi Bold"/>
                        </a:rPr>
                        <a:t>3.3%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158" name="TextBox 157"/>
          <p:cNvSpPr txBox="1"/>
          <p:nvPr/>
        </p:nvSpPr>
        <p:spPr>
          <a:xfrm>
            <a:off x="365760" y="3593592"/>
            <a:ext cx="5074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081B32"/>
                </a:solidFill>
                <a:latin typeface="Avenir Next Demi Bold"/>
              </a:rPr>
              <a:t>Latency: </a:t>
            </a:r>
            <a:r>
              <a:rPr sz="1100" i="0">
                <a:solidFill>
                  <a:srgbClr val="0B1F33"/>
                </a:solidFill>
                <a:latin typeface="Avenir Next"/>
              </a:rPr>
              <a:t>text p50 4.5 s, p95 18.2 s; image p50 6.9 s; voice 10.3 s. </a:t>
            </a:r>
            <a:r>
              <a:rPr sz="1100" i="0">
                <a:solidFill>
                  <a:srgbClr val="081B32"/>
                </a:solidFill>
                <a:latin typeface="Avenir Next Demi Bold"/>
              </a:rPr>
              <a:t>Errors: </a:t>
            </a:r>
            <a:r>
              <a:rPr sz="1100" i="0">
                <a:solidFill>
                  <a:srgbClr val="0B1F33"/>
                </a:solidFill>
                <a:latin typeface="Avenir Next"/>
              </a:rPr>
              <a:t>0. </a:t>
            </a:r>
            <a:r>
              <a:rPr sz="1100" i="0">
                <a:solidFill>
                  <a:srgbClr val="3F4B5B"/>
                </a:solidFill>
                <a:latin typeface="Avenir Next"/>
              </a:rPr>
              <a:t>p50 is the median, p95 the slowest 5%.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365760" y="4014216"/>
            <a:ext cx="5074920" cy="530352"/>
          </a:xfrm>
          <a:prstGeom prst="roundRect">
            <a:avLst>
              <a:gd name="adj" fmla="val 12068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12064" y="4014216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1764E8"/>
                </a:solidFill>
                <a:latin typeface="Avenir Next Demi Bold"/>
              </a:rPr>
              <a:t>Keyword baseline: </a:t>
            </a:r>
            <a:r>
              <a:rPr sz="1100" i="0">
                <a:solidFill>
                  <a:srgbClr val="0B1F33"/>
                </a:solidFill>
                <a:latin typeface="Avenir Next"/>
              </a:rPr>
              <a:t>on v2's 34 text cases it scored 94.1%, the same as Gemini, with different mistakes; v3 84.0% accuracy and 72.0% recall (Gemini 99.0% and 100%).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365760" y="4599432"/>
            <a:ext cx="5074920" cy="320039"/>
          </a:xfrm>
          <a:prstGeom prst="roundRect">
            <a:avLst>
              <a:gd name="adj" fmla="val 2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12064" y="4599432"/>
            <a:ext cx="4800600" cy="3200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081B32"/>
                </a:solidFill>
                <a:latin typeface="Avenir Next Demi Bold"/>
              </a:rPr>
              <a:t>First run, </a:t>
            </a:r>
            <a:r>
              <a:rPr sz="1100" i="0">
                <a:solidFill>
                  <a:srgbClr val="0B1F33"/>
                </a:solidFill>
                <a:latin typeface="Avenir Next"/>
              </a:rPr>
              <a:t>50 cases: 100% accuracy, 100% recall, 0% false positives. </a:t>
            </a:r>
            <a:r>
              <a:rPr sz="1100" i="0">
                <a:solidFill>
                  <a:srgbClr val="081B32"/>
                </a:solidFill>
                <a:latin typeface="Avenir Next Demi Bold"/>
              </a:rPr>
              <a:t>Hindi run, </a:t>
            </a:r>
            <a:r>
              <a:rPr sz="1100" i="0">
                <a:solidFill>
                  <a:srgbClr val="0B1F33"/>
                </a:solidFill>
                <a:latin typeface="Avenir Next"/>
              </a:rPr>
              <a:t>same 50 cases: 100%, 100%, 0%.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623560" y="2240280"/>
            <a:ext cx="3154679" cy="2679191"/>
          </a:xfrm>
          <a:prstGeom prst="roundRect">
            <a:avLst>
              <a:gd name="adj" fmla="val 2389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788152" y="2350008"/>
            <a:ext cx="28254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764E8"/>
                </a:solidFill>
                <a:latin typeface="Avenir Next Demi Bold"/>
              </a:rPr>
              <a:t>Read this honestly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788152" y="2651760"/>
            <a:ext cx="2825495" cy="2221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764E8"/>
              </a:buClr>
              <a:buFont typeface="Arial"/>
              <a:buChar char="•"/>
            </a:pPr>
            <a:r>
              <a:rPr sz="1100" i="0">
                <a:solidFill>
                  <a:srgbClr val="081B32"/>
                </a:solidFill>
                <a:latin typeface="Avenir Next Demi Bold"/>
              </a:rPr>
              <a:t>185 cases, written by the authors: </a:t>
            </a:r>
            <a:r>
              <a:rPr sz="1100" i="0">
                <a:solidFill>
                  <a:srgbClr val="0B1F33"/>
                </a:solidFill>
                <a:latin typeface="Avenir Next"/>
              </a:rPr>
              <a:t>a test, not a guarantee. 90 scams over 13 types, 90 genuine.</a:t>
            </a:r>
          </a:p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764E8"/>
              </a:buClr>
              <a:buFont typeface="Arial"/>
              <a:buChar char="•"/>
            </a:pPr>
            <a:r>
              <a:rPr sz="1100" i="0">
                <a:solidFill>
                  <a:srgbClr val="081B32"/>
                </a:solidFill>
                <a:latin typeface="Avenir Next Demi Bold"/>
              </a:rPr>
              <a:t>3 false positives: </a:t>
            </a:r>
            <a:r>
              <a:rPr sz="1100" i="0">
                <a:solidFill>
                  <a:srgbClr val="0B1F33"/>
                </a:solidFill>
                <a:latin typeface="Avenir Next"/>
              </a:rPr>
              <a:t>scam-awareness forward that quotes a scam link, delivery update with a tracking link, friend asking for a short loan. All misses and false positives: eval/results/combined.md.</a:t>
            </a:r>
          </a:p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64E8"/>
              </a:buClr>
              <a:buFont typeface="Arial"/>
              <a:buChar char="•"/>
            </a:pPr>
            <a:r>
              <a:rPr sz="1100" i="0">
                <a:solidFill>
                  <a:srgbClr val="081B32"/>
                </a:solidFill>
                <a:latin typeface="Avenir Next Demi Bold"/>
              </a:rPr>
              <a:t>Why gemini-3.7-flash: </a:t>
            </a:r>
            <a:r>
              <a:rPr sz="1100" i="0">
                <a:solidFill>
                  <a:srgbClr val="0B1F33"/>
                </a:solidFill>
                <a:latin typeface="Avenir Next"/>
              </a:rPr>
              <a:t>an earlier 50-case run on gemini-3.8-flash scored 98.0% accuracy with 4.2% false positives, image checks up to 34 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81B32"/>
                </a:solidFill>
                <a:latin typeface="Avenir Next Demi Bold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365760" y="1207008"/>
            <a:ext cx="196596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493776" y="1335024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" name="Picture 153" descr="i-languages-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169" y="1418417"/>
            <a:ext cx="180685" cy="180685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932688" y="1316736"/>
            <a:ext cx="1307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More Indian languages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12064" y="1773936"/>
            <a:ext cx="1691639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0B1F33"/>
                </a:solidFill>
                <a:latin typeface="Avenir Next"/>
              </a:rPr>
              <a:t>Tamil, Telugu, Marathi, Bengali and more.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514600" y="1207008"/>
            <a:ext cx="196596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2642616" y="1335024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9" name="Picture 158" descr="i-landmark-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6009" y="1418417"/>
            <a:ext cx="180685" cy="180685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3081528" y="1316736"/>
            <a:ext cx="1307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Bank &amp; telecom partners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660904" y="1773936"/>
            <a:ext cx="1691639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0B1F33"/>
                </a:solidFill>
                <a:latin typeface="Avenir Next"/>
              </a:rPr>
              <a:t>Verified reports feed the shared scam list.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663440" y="1207008"/>
            <a:ext cx="196596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4791456" y="1335024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4" name="Picture 163" descr="i-globe-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4849" y="1418417"/>
            <a:ext cx="180685" cy="180685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5230368" y="1316736"/>
            <a:ext cx="1307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URL reputation feeds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809744" y="1773936"/>
            <a:ext cx="1691639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0B1F33"/>
                </a:solidFill>
                <a:latin typeface="Avenir Next"/>
              </a:rPr>
              <a:t>Add Google Web Risk next to the isolated scan.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812280" y="1207008"/>
            <a:ext cx="196596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6940296" y="1335024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9" name="Picture 168" descr="i-smartphone-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3689" y="1418417"/>
            <a:ext cx="180685" cy="180685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7379208" y="1316736"/>
            <a:ext cx="1307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Android app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958584" y="1773936"/>
            <a:ext cx="1691639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0B1F33"/>
                </a:solidFill>
                <a:latin typeface="Avenir Next"/>
              </a:rPr>
              <a:t>Share SMS and notifications to a check.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365760" y="2414015"/>
            <a:ext cx="196596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493776" y="2542032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" name="Picture 173" descr="i-search-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7169" y="2625425"/>
            <a:ext cx="180685" cy="180685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932688" y="2523744"/>
            <a:ext cx="1307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Google Search grounding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12064" y="2980944"/>
            <a:ext cx="1691639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0B1F33"/>
                </a:solidFill>
                <a:latin typeface="Avenir Next"/>
              </a:rPr>
              <a:t>Switch on for link checks once quota allows.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2514600" y="2414015"/>
            <a:ext cx="196596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2642616" y="2542032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9" name="Picture 178" descr="i-phone-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26009" y="2625425"/>
            <a:ext cx="180685" cy="180685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3081528" y="2523744"/>
            <a:ext cx="1307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Call-recording upload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660904" y="2980944"/>
            <a:ext cx="1691639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0B1F33"/>
                </a:solidFill>
                <a:latin typeface="Avenir Next"/>
              </a:rPr>
              <a:t>Check recorded calls, not just voice notes.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4663440" y="2414015"/>
            <a:ext cx="196596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>
            <a:off x="4791456" y="2542032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4" name="Picture 183" descr="i-brain-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4849" y="2625425"/>
            <a:ext cx="180685" cy="180685"/>
          </a:xfrm>
          <a:prstGeom prst="rect">
            <a:avLst/>
          </a:prstGeom>
        </p:spPr>
      </p:pic>
      <p:sp>
        <p:nvSpPr>
          <p:cNvPr id="185" name="TextBox 184"/>
          <p:cNvSpPr txBox="1"/>
          <p:nvPr/>
        </p:nvSpPr>
        <p:spPr>
          <a:xfrm>
            <a:off x="5230368" y="2523744"/>
            <a:ext cx="1307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081B32"/>
                </a:solidFill>
                <a:latin typeface="Avenir Next Demi Bold"/>
              </a:rPr>
              <a:t>Misinformation mode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809744" y="2980944"/>
            <a:ext cx="1691639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0B1F33"/>
                </a:solidFill>
                <a:latin typeface="Avenir Next"/>
              </a:rPr>
              <a:t>The same engine for "is this forward real?"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6812280" y="2414015"/>
            <a:ext cx="1965960" cy="1097280"/>
          </a:xfrm>
          <a:prstGeom prst="roundRect">
            <a:avLst>
              <a:gd name="adj" fmla="val 5833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958584" y="2414015"/>
            <a:ext cx="1691639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764E8"/>
                </a:solidFill>
                <a:latin typeface="Avenir Next Demi Bold"/>
              </a:rPr>
              <a:t>Plans, not shipped. </a:t>
            </a:r>
            <a:r>
              <a:rPr sz="1150" i="0">
                <a:solidFill>
                  <a:srgbClr val="0B1F33"/>
                </a:solidFill>
                <a:latin typeface="Avenir Next"/>
              </a:rPr>
              <a:t>Search grounding is built but off by default.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365760" y="3639312"/>
            <a:ext cx="8412480" cy="1280160"/>
          </a:xfrm>
          <a:prstGeom prst="roundRect">
            <a:avLst>
              <a:gd name="adj" fmla="val 6428"/>
            </a:avLst>
          </a:prstGeom>
          <a:solidFill>
            <a:srgbClr val="08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566928" y="3749039"/>
            <a:ext cx="8010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34C9E8"/>
                </a:solidFill>
                <a:latin typeface="Avenir Next Demi Bold"/>
              </a:rPr>
              <a:t>How it scales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566928" y="4023360"/>
            <a:ext cx="2505456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i="0">
                <a:solidFill>
                  <a:srgbClr val="FFFFFF"/>
                </a:solidFill>
                <a:latin typeface="Avenir Next Demi Bold"/>
              </a:rPr>
              <a:t>Stateless API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C9D6EA"/>
                </a:solidFill>
                <a:latin typeface="Avenir Next"/>
              </a:rPr>
              <a:t>Cloud Run adds instances (1 to 5 today) as traffic grows; the daily cap is a setting, not a rebuild.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236976" y="4023360"/>
            <a:ext cx="2505456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i="0">
                <a:solidFill>
                  <a:srgbClr val="FFFFFF"/>
                </a:solidFill>
                <a:latin typeface="Avenir Next Demi Bold"/>
              </a:rPr>
              <a:t>Managed data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C9D6EA"/>
                </a:solidFill>
                <a:latin typeface="Avenir Next"/>
              </a:rPr>
              <a:t>Firestore, Hosting, Auth and Storage need no servers to run; uploads auto-delete after 7 days.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907024" y="4023360"/>
            <a:ext cx="2505456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i="0">
                <a:solidFill>
                  <a:srgbClr val="FFFFFF"/>
                </a:solidFill>
                <a:latin typeface="Avenir Next Demi Bold"/>
              </a:rPr>
              <a:t>Cost stays bounded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C9D6EA"/>
                </a:solidFill>
                <a:latin typeface="Avenir Next"/>
              </a:rPr>
              <a:t>Per-user, per-IP and global limits rise only as budget allows; App Check adds abuse protection next.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176" y="667512"/>
            <a:ext cx="5257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81B32"/>
                </a:solidFill>
                <a:latin typeface="Avenir Next Demi Bold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/>
              <a:t/>
            </a:r>
            <a:endParaRPr sz="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201168" lvl="0" marL="274320" rtl="0" algn="l">
              <a:spcBef>
                <a:spcPts val="0"/>
              </a:spcBef>
              <a:spcAft>
                <a:spcPts val="2200"/>
              </a:spcAft>
              <a:buSzPts val="1300"/>
              <a:buFont typeface="Google Sans Flex Medium"/>
              <a:buChar char="●"/>
            </a:pPr>
            <a:r>
              <a:rPr lang="en-GB" sz="1500" i="0">
                <a:solidFill>
                  <a:srgbClr val="081B32"/>
                </a:solidFill>
                <a:latin typeface="Avenir Next Demi Bold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br/>
            <a:r>
              <a:rPr sz="1400" i="0">
                <a:solidFill>
                  <a:srgbClr val="1764E8"/>
                </a:solidFill>
                <a:latin typeface="Avenir Next"/>
              </a:rPr>
              <a:t>https://github.com/Namans12/scam-shield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201168" lvl="0" marL="274320" rtl="0" algn="l">
              <a:spcBef>
                <a:spcPts val="0"/>
              </a:spcBef>
              <a:spcAft>
                <a:spcPts val="2200"/>
              </a:spcAft>
              <a:buSzPts val="1300"/>
              <a:buFont typeface="Google Sans Flex Medium"/>
              <a:buChar char="●"/>
            </a:pPr>
            <a:r>
              <a:rPr lang="en-GB" sz="1500" i="0">
                <a:solidFill>
                  <a:srgbClr val="081B32"/>
                </a:solidFill>
                <a:latin typeface="Avenir Next Demi Bold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br/>
            <a:r>
              <a:rPr sz="1400" i="0">
                <a:solidFill>
                  <a:srgbClr val="1764E8"/>
                </a:solidFill>
                <a:latin typeface="Avenir Next"/>
              </a:rPr>
              <a:t>https://youtu.be/a678nAYddq0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201168" lvl="0" marL="274320" rtl="0" algn="l">
              <a:spcBef>
                <a:spcPts val="0"/>
              </a:spcBef>
              <a:spcAft>
                <a:spcPts val="2200"/>
              </a:spcAft>
              <a:buSzPts val="1300"/>
              <a:buFont typeface="Google Sans Flex Medium"/>
              <a:buChar char="●"/>
            </a:pPr>
            <a:r>
              <a:rPr lang="en-GB" sz="1500" i="0">
                <a:solidFill>
                  <a:srgbClr val="081B32"/>
                </a:solidFill>
                <a:latin typeface="Avenir Next Demi Bold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br/>
            <a:r>
              <a:rPr sz="1400" i="0">
                <a:solidFill>
                  <a:srgbClr val="1764E8"/>
                </a:solidFill>
                <a:latin typeface="Avenir Next"/>
              </a:rPr>
              <a:t>https://scam-shield-live.web.app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/>
              <a:t/>
            </a:r>
            <a:endParaRPr sz="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5897880" y="914400"/>
            <a:ext cx="2880360" cy="31546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1" name="Picture 160" descr="qr-l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115568"/>
            <a:ext cx="1965960" cy="1965960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6035040" y="320040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i="0">
                <a:solidFill>
                  <a:srgbClr val="081B32"/>
                </a:solidFill>
                <a:latin typeface="Avenir Next Demi Bold"/>
              </a:rPr>
              <a:t>Scan to try the live app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3F4B5B"/>
                </a:solidFill>
                <a:latin typeface="Avenir Next"/>
              </a:rPr>
              <a:t>Paste a suspicious message and see the verdict.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65760" y="4224528"/>
            <a:ext cx="8412480" cy="694943"/>
          </a:xfrm>
          <a:prstGeom prst="roundRect">
            <a:avLst>
              <a:gd name="adj" fmla="val 10526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4" name="Picture 163" descr="logo-lockup-horizont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334256"/>
            <a:ext cx="1647567" cy="457200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3108960" y="4224528"/>
            <a:ext cx="5486399" cy="6949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i="0">
                <a:solidFill>
                  <a:srgbClr val="081B32"/>
                </a:solidFill>
                <a:latin typeface="Avenir Next Demi Bold"/>
              </a:rPr>
              <a:t>Pause. Check. </a:t>
            </a:r>
            <a:r>
              <a:rPr sz="1500" i="0">
                <a:solidFill>
                  <a:srgbClr val="1764E8"/>
                </a:solidFill>
                <a:latin typeface="Avenir Next Demi Bold"/>
              </a:rPr>
              <a:t>Then act.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Picture 166" descr="logo-lockup-horizont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1371600"/>
            <a:ext cx="3474720" cy="964234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365760" y="2331720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i="0">
                <a:solidFill>
                  <a:srgbClr val="081B32"/>
                </a:solidFill>
                <a:latin typeface="Avenir Next Demi Bold"/>
              </a:rPr>
              <a:t>Pause. Check. </a:t>
            </a:r>
            <a:r>
              <a:rPr sz="2800" i="0">
                <a:solidFill>
                  <a:srgbClr val="1764E8"/>
                </a:solidFill>
                <a:latin typeface="Avenir Next Demi Bold"/>
              </a:rPr>
              <a:t>Then act.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280160" y="301752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3F4B5B"/>
                </a:solidFill>
                <a:latin typeface="Avenir Next"/>
              </a:rPr>
              <a:t>Check what you were just sent before you act on it. Free, in English and Hindi.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40079" y="3703320"/>
            <a:ext cx="2468880" cy="731520"/>
          </a:xfrm>
          <a:prstGeom prst="roundRect">
            <a:avLst>
              <a:gd name="adj" fmla="val 11249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1" name="Picture 170" descr="i-sparkles-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3931920"/>
            <a:ext cx="274320" cy="274320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1234439" y="3703320"/>
            <a:ext cx="1783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081B32"/>
                </a:solidFill>
                <a:latin typeface="Avenir Next Demi Bold"/>
              </a:rPr>
              <a:t>Gemini reads any input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3337559" y="3703320"/>
            <a:ext cx="2468880" cy="731520"/>
          </a:xfrm>
          <a:prstGeom prst="roundRect">
            <a:avLst>
              <a:gd name="adj" fmla="val 11249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" name="Picture 173" descr="i-quote-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39" y="3931920"/>
            <a:ext cx="274320" cy="274320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3931919" y="3703320"/>
            <a:ext cx="1783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081B32"/>
                </a:solidFill>
                <a:latin typeface="Avenir Next Demi Bold"/>
              </a:rPr>
              <a:t>Evidence for every flag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6035040" y="3703320"/>
            <a:ext cx="2468880" cy="731520"/>
          </a:xfrm>
          <a:prstGeom prst="roundRect">
            <a:avLst>
              <a:gd name="adj" fmla="val 11249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7" name="Picture 176" descr="i-flag-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931920"/>
            <a:ext cx="274320" cy="274320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6629400" y="3703320"/>
            <a:ext cx="1783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081B32"/>
                </a:solidFill>
                <a:latin typeface="Avenir Next Demi Bold"/>
              </a:rPr>
              <a:t>A scam becomes action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>
                <a:solidFill>
                  <a:srgbClr val="3F4B5B"/>
                </a:solidFill>
                <a:latin typeface="Avenir Next"/>
              </a:rPr>
              <a:t>scam-shield-live.web.app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Scam Shield - AI Builder Cup pitch deck</dc:title>
  <cp:lastModifiedBy>Scam Shield</cp:lastModifiedBy>
  <cp:revision>1</cp:revision>
  <dcterms:modified xsi:type="dcterms:W3CDTF">2026-10-18T00:00:00Z</dcterms:modified>
  <dc:creator>Scam Shield</dc:creator>
  <dcterms:created xsi:type="dcterms:W3CDTF">2026-10-18T00:00:00Z</dcterms:created>
</cp:coreProperties>
</file>