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Scam Shield.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Verdicts are Scam, Suspicious or No scam signs found; the app never says 'safe'.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(https://project-91260b43-6705-4176-b71.web.app).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npm test on 18 Oct 2026 passed 592 tests (14 + 256 + 94 + 223 + 5; a further 18 live-API tests are skipped by default). Also used: Cloud Build and Artifact Registry for deploys, Cloud Text-to-Speech to generate the voice example.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 (Rs 1,000 per month; 50/90/100%) created by the owner in Google Cloud Billing on 18 Oct 2026 (budget name 'Scam Shield', applies to this project).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English run (2026-10-17): accuracy 100.0%, scam recall 100.0%, false-positive rate 0.0%, scam type correct 100.0%, errors 0 (eval/results/latest.md). Hindi run (2026-10-17): accuracy 100.0%, recall 100.0%, false positives 0.0%, type correct 100.0% (eval/results/run-hindi.md). Both runs were made against the live app with 50 synthetic cases in eval/cases.jsonl (45 text, 4 image, 1 audio; 26 scams over 13 scam types, 24 genuine), concurrency 1. Latency is wall-clock from request to response. The model for these runs was gemini-3.7-flash: eval/results/latest.md is identical to eval/results/run-gemini-3.7-flash-17oct.md, and gemini-3.7-flash is the API default (api/src/index.ts). Earlier comparison on gemini-3.8-flash (2026-10-16): accuracy 98.0%, false-positive rate 4.2%, image p95 33.8 s; it was slower and rate-limited on this project, so the default is gemini-3.7-flash. The first benchmark run exposed a real bug (the model did not know today's date and flagged 2026 dates as future); it was fixed and re-measured. This is a small synthetic sanity check,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https://project-91260b43-6705-4176-b71.web.app (the QR code points here). The demo video link is a deliberate placeholder, highlighted in amber; the owner must replace the text '[add the public video link here]' in the PPTX and re-run scripts/build-deck.sh before submitting.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Scam Shield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5B6778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5B6778"/>
                </a:solidFill>
                <a:latin typeface="Avenir Next"/>
              </a:rPr>
              <a:t>Free for anyone in India; every report warns the next person.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2011680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6712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9299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2139696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3008376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316382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255995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3136392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4005072"/>
            <a:ext cx="50749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416052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425269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4133087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7" name="Picture 8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623560" y="4590288"/>
            <a:ext cx="3154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live app. Links are opened in an isolated browser, never on your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66928"/>
          </a:xfrm>
          <a:prstGeom prst="roundRect">
            <a:avLst>
              <a:gd name="adj" fmla="val 1129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938528"/>
            <a:ext cx="4892040" cy="2980944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2066544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395728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30175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3090672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529584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602736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041648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133087"/>
            <a:ext cx="4636007" cy="658368"/>
          </a:xfrm>
          <a:prstGeom prst="roundRect">
            <a:avLst>
              <a:gd name="adj" fmla="val 8333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133087"/>
            <a:ext cx="437997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938528"/>
            <a:ext cx="3337559" cy="1481328"/>
          </a:xfrm>
          <a:prstGeom prst="roundRect">
            <a:avLst>
              <a:gd name="adj" fmla="val 432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2066544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377440"/>
            <a:ext cx="2971799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529584"/>
            <a:ext cx="333755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65760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968496"/>
            <a:ext cx="2971799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UPI-aware: a QR that asks you to pay while the text says 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56232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56232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64208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429000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91693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91693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429000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779776"/>
            <a:ext cx="1965960" cy="1298448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90779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90779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236976"/>
            <a:ext cx="1709928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505456"/>
            <a:ext cx="0" cy="1371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642616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642616"/>
            <a:ext cx="0" cy="13716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206240"/>
            <a:ext cx="8412480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407408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206240"/>
            <a:ext cx="7589519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23774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865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886200"/>
            <a:ext cx="1645920" cy="1033271"/>
          </a:xfrm>
          <a:prstGeom prst="roundRect">
            <a:avLst>
              <a:gd name="adj" fmla="val 619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400507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4361688"/>
            <a:ext cx="1426464" cy="521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46888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59689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587752"/>
            <a:ext cx="1634572" cy="11247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886200"/>
            <a:ext cx="2286000" cy="1033271"/>
          </a:xfrm>
          <a:prstGeom prst="roundRect">
            <a:avLst>
              <a:gd name="adj" fmla="val 6194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95928"/>
            <a:ext cx="2066543" cy="8869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758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258568"/>
            <a:ext cx="36576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386584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377440"/>
            <a:ext cx="30632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3145536"/>
            <a:ext cx="3657600" cy="841248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273552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264408"/>
            <a:ext cx="300617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5B6778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4224528"/>
            <a:ext cx="1783080" cy="694944"/>
          </a:xfrm>
          <a:prstGeom prst="roundRect">
            <a:avLst>
              <a:gd name="adj" fmla="val 9210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334256"/>
            <a:ext cx="1563624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91640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48840"/>
            <a:ext cx="0" cy="32004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611880"/>
            <a:ext cx="0" cy="27432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596896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91640"/>
            <a:ext cx="0" cy="905256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9164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47472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63931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639312"/>
            <a:ext cx="0" cy="93268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5720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986784"/>
            <a:ext cx="0" cy="237744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937760"/>
            <a:ext cx="8412480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i="0">
                <a:solidFill>
                  <a:srgbClr val="5B6778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712463"/>
          </a:xfrm>
          <a:prstGeom prst="roundRect">
            <a:avLst>
              <a:gd name="adj" fmla="val 221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798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2212848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75688"/>
            <a:ext cx="3931919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stateless, autoscaling, one warm instance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529584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657600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986784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986784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986784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986784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986784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986784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986784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986784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288536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288536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288536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288536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288536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288536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288536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288536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617720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50-case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937760"/>
            <a:ext cx="8412480" cy="1280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i="0">
                <a:solidFill>
                  <a:srgbClr val="5B6778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7160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71600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One Cloud Run API instance kept warm: 1 vCPU, 1 GiB, Mumbai. Idle rate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Gemini 3.7 Flash, assuming about 2,500 input and 500 to 1,500 output tokens. US$0.75 in, US$3.75 out per 1M tokens until 31 Dec 2026; double from 1 Jan 2027.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7160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71600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70992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12140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414016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505456"/>
            <a:ext cx="2313432" cy="11887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 and scales to zero.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895344"/>
            <a:ext cx="8412480" cy="1024128"/>
          </a:xfrm>
          <a:prstGeom prst="roundRect">
            <a:avLst>
              <a:gd name="adj" fmla="val 7142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Limits bound the bill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30 checks per user per day, 60 per IP per minute, 3,000 per day overall.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4005072"/>
            <a:ext cx="24993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Budget alert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Set: Rs 1,000 per month on this project, alerts at 50%, 90% and 100% of the budget. A hard daily cap also applies.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3090672"/>
          </a:xfrm>
          <a:prstGeom prst="roundRect">
            <a:avLst>
              <a:gd name="adj" fmla="val 355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402" y="1280160"/>
            <a:ext cx="1480124" cy="2944368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83170" y="1280160"/>
            <a:ext cx="1480124" cy="2944368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1937" y="1280160"/>
            <a:ext cx="1480124" cy="2944368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0705" y="1280160"/>
            <a:ext cx="1480124" cy="2944368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9472" y="1280160"/>
            <a:ext cx="1480124" cy="2944368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48665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35424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4192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32959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81727" y="4407408"/>
            <a:ext cx="15756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Adds it to the shared scam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0.0%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98448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i="0">
                <a:solidFill>
                  <a:srgbClr val="1764E8"/>
                </a:solidFill>
                <a:latin typeface="Avenir Next Demi Bold"/>
              </a:rPr>
              <a:t>100.0%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792224"/>
            <a:ext cx="1965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5B6778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17627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English run, 2026-10-17, 50 synthetic test cases, live app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505456"/>
          <a:ext cx="5074920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731520"/>
                <a:gridCol w="548640"/>
                <a:gridCol w="948690"/>
                <a:gridCol w="948690"/>
                <a:gridCol w="948690"/>
                <a:gridCol w="9486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Input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English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p50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i="0">
                          <a:solidFill>
                            <a:srgbClr val="FFFFFF"/>
                          </a:solidFill>
                          <a:latin typeface="Avenir Next Demi Bold"/>
                        </a:rPr>
                        <a:t>Hindi p95</a:t>
                      </a:r>
                    </a:p>
                  </a:txBody>
                  <a:tcPr marL="54864" marR="54864" marT="27432" marB="27432" anchor="ctr">
                    <a:solidFill>
                      <a:srgbClr val="081B3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Text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45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20.8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5.0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Image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7.3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8.0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9.7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i="0">
                          <a:solidFill>
                            <a:srgbClr val="0B1F33"/>
                          </a:solidFill>
                          <a:latin typeface="Avenir Next Demi Bold"/>
                        </a:rPr>
                        <a:t>Audio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10.3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i="0">
                          <a:solidFill>
                            <a:srgbClr val="0B1F33"/>
                          </a:solidFill>
                          <a:latin typeface="Avenir Next"/>
                        </a:rPr>
                        <a:t>11.6 s</a:t>
                      </a:r>
                    </a:p>
                  </a:txBody>
                  <a:tcPr marL="54864" marR="54864" marT="27432" marB="27432" anchor="ctr">
                    <a:solidFill>
                      <a:srgbClr val="F1F5FB"/>
                    </a:solidFill>
                  </a:tcPr>
                </a:tc>
              </a:tr>
            </a:tbl>
          </a:graphicData>
        </a:graphic>
      </p:graphicFrame>
      <p:sp>
        <p:nvSpPr>
          <p:cNvPr id="158" name="Rounded Rectangle 157"/>
          <p:cNvSpPr/>
          <p:nvPr/>
        </p:nvSpPr>
        <p:spPr>
          <a:xfrm>
            <a:off x="365760" y="3931920"/>
            <a:ext cx="5074920" cy="566928"/>
          </a:xfrm>
          <a:prstGeom prst="roundRect">
            <a:avLst>
              <a:gd name="adj" fmla="val 1129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2064" y="3931920"/>
            <a:ext cx="4800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Hindi run: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accuracy 100.0%, scam recall 100.0%, false positives 0.0%, scam type correct 100.0%; answers returned in Hindi.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65760" y="4608576"/>
            <a:ext cx="5074920" cy="31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5B6778"/>
                </a:solidFill>
                <a:latin typeface="Avenir Next"/>
              </a:rPr>
              <a:t>p50 is the median time, p95 the slowest 5%, in seconds from request to answer on the live app. The image and voice samples are very small (4 and 1 cases).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23560" y="2505456"/>
            <a:ext cx="3154679" cy="2414015"/>
          </a:xfrm>
          <a:prstGeom prst="roundRect">
            <a:avLst>
              <a:gd name="adj" fmla="val 265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788152" y="2633472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788152" y="2962656"/>
            <a:ext cx="2825495" cy="19110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50 synthetic test cases, a small test, not a guarantee.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26 scams across 13 types and 24 genuine messages.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Model: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gemini-3.7-flash, with gemini-2.5-flash as fallback.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B1F33"/>
                </a:solidFill>
                <a:latin typeface="Avenir Next"/>
              </a:rPr>
              <a:t>Errors: 0. False positives: none.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The first run found a real bug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(the model did not know today's date); it was fixed and re-measured.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2064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57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69264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27832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337413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52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831336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74136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89904" y="1207008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6236208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9601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6693408" y="1335024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236208" y="1828800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65760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512064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5457" y="2625425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969264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12064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Share SMS and notifications straight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227832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337413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752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831336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374136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6089904" y="2414015"/>
            <a:ext cx="26791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236208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601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6693408" y="2542032"/>
            <a:ext cx="1965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6236208" y="3035808"/>
            <a:ext cx="238658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Extend today's voice-note check to recorded calls.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65760" y="3657600"/>
            <a:ext cx="8412480" cy="1261872"/>
          </a:xfrm>
          <a:prstGeom prst="roundRect">
            <a:avLst>
              <a:gd name="adj" fmla="val 6521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566928" y="3767328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6928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36976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907024" y="4078224"/>
            <a:ext cx="2505456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9A5B00"/>
                </a:solidFill>
                <a:highlight>
                  <a:srgbClr val="FFE9A8"/>
                </a:highlight>
                <a:latin typeface="Avenir Next Demi Bold"/>
              </a:rPr>
              <a:t>[add the public video link here]</a:t>
            </a:r>
            <a:r>
              <a:rPr sz="1100" i="1">
                <a:solidFill>
                  <a:srgbClr val="9A5B00"/>
                </a:solidFill>
                <a:latin typeface="Avenir Next"/>
              </a:rPr>
              <a:t>  (owner to fill in)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https://project-91260b43-6705-4176-b71.web.app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5B6778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5B6778"/>
                </a:solidFill>
                <a:latin typeface="Avenir Next"/>
              </a:rPr>
              <a:t>project-91260b43-6705-4176-b71.web.app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