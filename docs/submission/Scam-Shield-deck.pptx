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b085bff3c_0_1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b085bff3c_0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7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sz="1800">
                <a:solidFill>
                  <a:srgbClr val="0B1F33"/>
                </a:solidFill>
                <a:latin typeface="Google Sans Flex"/>
              </a:rPr>
              <a:t>Scam Shield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sz="1800">
                <a:solidFill>
                  <a:srgbClr val="0B1F33"/>
                </a:solidFill>
                <a:latin typeface="Google Sans Flex"/>
              </a:rPr>
              <a:t>Naman Shrimal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sz="1300">
                <a:solidFill>
                  <a:srgbClr val="0B1F33"/>
                </a:solidFill>
                <a:latin typeface="Google Sans Flex"/>
              </a:rPr>
              <a:t>BFSI: Intelligent Risk, Fraud &amp; Financial Experiences. People in India lose thousands of crores to scam messages, QR codes and calls that look real, with no quick way to check them or to turn a scam into action.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5092475" y="1968750"/>
            <a:ext cx="3311400" cy="120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Note:</a:t>
            </a: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Please download this template to make your edits and submit the final version.</a:t>
            </a: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 download, go to File &gt; Download &gt; Microsoft PowerPoint (.PPTX). Kindly refrain from sending edit requests.</a:t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64" name="Google Shape;6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4203" y="1194675"/>
            <a:ext cx="3604250" cy="2621725"/>
          </a:xfrm>
          <a:prstGeom prst="rect">
            <a:avLst/>
          </a:prstGeom>
          <a:noFill/>
          <a:ln>
            <a:noFill/>
          </a:ln>
          <a:effectLst>
            <a:outerShdw blurRad="971550" rotWithShape="0" algn="bl" dir="5400000" dist="19050">
              <a:schemeClr val="lt1">
                <a:alpha val="50000"/>
              </a:scheme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320040" y="1261872"/>
            <a:ext cx="52578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0B1F33"/>
                </a:solidFill>
                <a:latin typeface="Google Sans Flex"/>
              </a:rPr>
              <a:t>Scam Shield checks the thing you were just sent before you act on it: </a:t>
            </a:r>
            <a:r>
              <a:rPr sz="1400" b="0" i="0">
                <a:solidFill>
                  <a:srgbClr val="0B1F33"/>
                </a:solidFill>
                <a:latin typeface="Google Sans Flex"/>
              </a:rPr>
              <a:t>a text, screenshot, QR code, link or voice note.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20040" y="2103120"/>
            <a:ext cx="5257800" cy="868680"/>
          </a:xfrm>
          <a:prstGeom prst="roundRect">
            <a:avLst>
              <a:gd name="adj" fmla="val 8000"/>
            </a:avLst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93192" y="2157984"/>
            <a:ext cx="5111496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0F766E"/>
                </a:solidFill>
                <a:latin typeface="Google Sans Flex"/>
              </a:rPr>
              <a:t>Verdict you can trust to read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0B1F33"/>
                </a:solidFill>
                <a:latin typeface="Google Sans Flex"/>
              </a:rPr>
              <a:t>Scam, Suspicious or No scam signs found, with the red flags quoted from the message, and what to do next. In English or Hindi; Hinglish is understood.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20040" y="3044952"/>
            <a:ext cx="5257800" cy="868680"/>
          </a:xfrm>
          <a:prstGeom prst="roundRect">
            <a:avLst>
              <a:gd name="adj" fmla="val 8000"/>
            </a:avLst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93192" y="3099816"/>
            <a:ext cx="5111496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0F766E"/>
                </a:solidFill>
                <a:latin typeface="Google Sans Flex"/>
              </a:rPr>
              <a:t>From a verdict to action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0B1F33"/>
                </a:solidFill>
                <a:latin typeface="Google Sans Flex"/>
              </a:rPr>
              <a:t>For a scam: a ready-to-file 1930 / cybercrime.gov.in complaint, a shared scam list so the next person is warned, and a WhatsApp warning card.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20040" y="3986784"/>
            <a:ext cx="5257800" cy="868680"/>
          </a:xfrm>
          <a:prstGeom prst="roundRect">
            <a:avLst>
              <a:gd name="adj" fmla="val 8000"/>
            </a:avLst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93192" y="4041648"/>
            <a:ext cx="5111496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0F766E"/>
                </a:solidFill>
                <a:latin typeface="Google Sans Flex"/>
              </a:rPr>
              <a:t>Safe by design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0B1F33"/>
                </a:solidFill>
                <a:latin typeface="Google Sans Flex"/>
              </a:rPr>
              <a:t>Links open in an isolated browser, never on the person's phone. It never says "safe"; guidance only.</a:t>
            </a:r>
          </a:p>
        </p:txBody>
      </p:sp>
      <p:pic>
        <p:nvPicPr>
          <p:cNvPr id="79" name="Picture 78" descr="02-check-mobile.png"/>
          <p:cNvPicPr>
            <a:picLocks noChangeAspect="1"/>
          </p:cNvPicPr>
          <p:nvPr/>
        </p:nvPicPr>
        <p:blipFill>
          <a:blip r:embed="rId4"/>
          <a:srcRect b="130"/>
          <a:stretch>
            <a:fillRect/>
          </a:stretch>
        </p:blipFill>
        <p:spPr>
          <a:xfrm>
            <a:off x="5943600" y="1325880"/>
            <a:ext cx="1417320" cy="3063240"/>
          </a:xfrm>
          <a:prstGeom prst="rect">
            <a:avLst/>
          </a:prstGeom>
          <a:ln w="9525">
            <a:solidFill>
              <a:srgbClr val="C9D3DD"/>
            </a:solidFill>
          </a:ln>
        </p:spPr>
      </p:pic>
      <p:pic>
        <p:nvPicPr>
          <p:cNvPr id="80" name="Picture 79" descr="03-result-scam-mobile.png"/>
          <p:cNvPicPr>
            <a:picLocks noChangeAspect="1"/>
          </p:cNvPicPr>
          <p:nvPr/>
        </p:nvPicPr>
        <p:blipFill>
          <a:blip r:embed="rId5"/>
          <a:srcRect b="130"/>
          <a:stretch>
            <a:fillRect/>
          </a:stretch>
        </p:blipFill>
        <p:spPr>
          <a:xfrm>
            <a:off x="7452360" y="1325880"/>
            <a:ext cx="1417320" cy="3063240"/>
          </a:xfrm>
          <a:prstGeom prst="rect">
            <a:avLst/>
          </a:prstGeom>
          <a:ln w="9525">
            <a:solidFill>
              <a:srgbClr val="C9D3DD"/>
            </a:solidFill>
          </a:ln>
        </p:spPr>
      </p:pic>
      <p:sp>
        <p:nvSpPr>
          <p:cNvPr id="81" name="TextBox 80"/>
          <p:cNvSpPr txBox="1"/>
          <p:nvPr/>
        </p:nvSpPr>
        <p:spPr>
          <a:xfrm>
            <a:off x="5852160" y="4462272"/>
            <a:ext cx="31089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0" i="0">
                <a:solidFill>
                  <a:srgbClr val="5B6778"/>
                </a:solidFill>
                <a:latin typeface="Google Sans Flex"/>
              </a:rPr>
              <a:t>The live app: paste or share, then the verdict with evidence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320040" y="1188720"/>
            <a:ext cx="8503920" cy="566928"/>
          </a:xfrm>
          <a:prstGeom prst="roundRect">
            <a:avLst>
              <a:gd name="adj" fmla="val 8000"/>
            </a:avLst>
          </a:prstGeom>
          <a:solidFill>
            <a:srgbClr val="FDE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11480" y="1216152"/>
            <a:ext cx="8321040" cy="53035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 i="0">
                <a:solidFill>
                  <a:srgbClr val="B42318"/>
                </a:solidFill>
                <a:latin typeface="Google Sans Flex"/>
              </a:rPr>
              <a:t>Rs 19,813 crore</a:t>
            </a:r>
            <a:r>
              <a:rPr sz="1200" b="0" i="0">
                <a:solidFill>
                  <a:srgbClr val="0B1F33"/>
                </a:solidFill>
                <a:latin typeface="Google Sans Flex"/>
              </a:rPr>
              <a:t>  reported cyber-fraud losses in 2025  |  about 21.8 lakh complaints  |  about 2% recovered (I4C data)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20040" y="1874519"/>
            <a:ext cx="2743200" cy="3063240"/>
          </a:xfrm>
          <a:prstGeom prst="roundRect">
            <a:avLst>
              <a:gd name="adj" fmla="val 8000"/>
            </a:avLst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11479" y="1938528"/>
            <a:ext cx="2560320" cy="2926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F766E"/>
                </a:solidFill>
                <a:latin typeface="Google Sans Flex"/>
              </a:rPr>
              <a:t>How different is it?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0F766E"/>
                </a:solidFill>
                <a:latin typeface="Google Sans Flex"/>
              </a:rPr>
              <a:t>•  </a:t>
            </a:r>
            <a:r>
              <a:rPr sz="1200" b="0" i="0">
                <a:solidFill>
                  <a:srgbClr val="0B1F33"/>
                </a:solidFill>
                <a:latin typeface="Google Sans Flex"/>
              </a:rPr>
              <a:t>Truecaller Scam Checker (Sep 2026): matches links, numbers and text already reported; no screenshots, QR or voice.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0F766E"/>
                </a:solidFill>
                <a:latin typeface="Google Sans Flex"/>
              </a:rPr>
              <a:t>•  </a:t>
            </a:r>
            <a:r>
              <a:rPr sz="1200" b="0" i="0">
                <a:solidFill>
                  <a:srgbClr val="0B1F33"/>
                </a:solidFill>
                <a:latin typeface="Google Sans Flex"/>
              </a:rPr>
              <a:t>Google scam detection: mostly Pixel phones.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0F766E"/>
                </a:solidFill>
                <a:latin typeface="Google Sans Flex"/>
              </a:rPr>
              <a:t>•  </a:t>
            </a:r>
            <a:r>
              <a:rPr sz="1200" b="0" i="0">
                <a:solidFill>
                  <a:srgbClr val="0B1F33"/>
                </a:solidFill>
                <a:latin typeface="Google Sans Flex"/>
              </a:rPr>
              <a:t>Chakshu: a reporting form; it gives no verdict.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0F766E"/>
                </a:solidFill>
                <a:latin typeface="Google Sans Flex"/>
              </a:rPr>
              <a:t>•  </a:t>
            </a:r>
            <a:r>
              <a:rPr sz="1200" b="0" i="0">
                <a:solidFill>
                  <a:srgbClr val="0B1F33"/>
                </a:solidFill>
                <a:latin typeface="Google Sans Flex"/>
              </a:rPr>
              <a:t>Scam Shield analyses the content itself.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200400" y="1874519"/>
            <a:ext cx="2743200" cy="3063240"/>
          </a:xfrm>
          <a:prstGeom prst="roundRect">
            <a:avLst>
              <a:gd name="adj" fmla="val 8000"/>
            </a:avLst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291840" y="1938528"/>
            <a:ext cx="2560320" cy="2926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F766E"/>
                </a:solidFill>
                <a:latin typeface="Google Sans Flex"/>
              </a:rPr>
              <a:t>How does it solve the problem?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0F766E"/>
                </a:solidFill>
                <a:latin typeface="Google Sans Flex"/>
              </a:rPr>
              <a:t>•  </a:t>
            </a:r>
            <a:r>
              <a:rPr sz="1200" b="0" i="0">
                <a:solidFill>
                  <a:srgbClr val="0B1F33"/>
                </a:solidFill>
                <a:latin typeface="Google Sans Flex"/>
              </a:rPr>
              <a:t>Checks before you pay, scan or click, in seconds, in Hindi or English.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0F766E"/>
                </a:solidFill>
                <a:latin typeface="Google Sans Flex"/>
              </a:rPr>
              <a:t>•  </a:t>
            </a:r>
            <a:r>
              <a:rPr sz="1200" b="0" i="0">
                <a:solidFill>
                  <a:srgbClr val="0B1F33"/>
                </a:solidFill>
                <a:latin typeface="Google Sans Flex"/>
              </a:rPr>
              <a:t>Explains every red flag with the exact words from the message.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0F766E"/>
                </a:solidFill>
                <a:latin typeface="Google Sans Flex"/>
              </a:rPr>
              <a:t>•  </a:t>
            </a:r>
            <a:r>
              <a:rPr sz="1200" b="0" i="0">
                <a:solidFill>
                  <a:srgbClr val="0B1F33"/>
                </a:solidFill>
                <a:latin typeface="Google Sans Flex"/>
              </a:rPr>
              <a:t>Turns a scam into action: complaint draft, shared scam list, family warning card.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6080760" y="1874519"/>
            <a:ext cx="2743200" cy="3063240"/>
          </a:xfrm>
          <a:prstGeom prst="roundRect">
            <a:avLst>
              <a:gd name="adj" fmla="val 8000"/>
            </a:avLst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172200" y="1938528"/>
            <a:ext cx="2560320" cy="2926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F766E"/>
                </a:solidFill>
                <a:latin typeface="Google Sans Flex"/>
              </a:rPr>
              <a:t>USP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0F766E"/>
                </a:solidFill>
                <a:latin typeface="Google Sans Flex"/>
              </a:rPr>
              <a:t>•  </a:t>
            </a:r>
            <a:r>
              <a:rPr sz="1200" b="0" i="0">
                <a:solidFill>
                  <a:srgbClr val="0B1F33"/>
                </a:solidFill>
                <a:latin typeface="Google Sans Flex"/>
              </a:rPr>
              <a:t>Catches scams nobody has reported yet.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0F766E"/>
                </a:solidFill>
                <a:latin typeface="Google Sans Flex"/>
              </a:rPr>
              <a:t>•  </a:t>
            </a:r>
            <a:r>
              <a:rPr sz="1200" b="0" i="0">
                <a:solidFill>
                  <a:srgbClr val="0B1F33"/>
                </a:solidFill>
                <a:latin typeface="Google Sans Flex"/>
              </a:rPr>
              <a:t>UPI-aware: a QR that asks you to pay while the text says receive; fake payment receipts.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0F766E"/>
                </a:solidFill>
                <a:latin typeface="Google Sans Flex"/>
              </a:rPr>
              <a:t>•  </a:t>
            </a:r>
            <a:r>
              <a:rPr sz="1200" b="0" i="0">
                <a:solidFill>
                  <a:srgbClr val="0B1F33"/>
                </a:solidFill>
                <a:latin typeface="Google Sans Flex"/>
              </a:rPr>
              <a:t>Hinglish voice notes (fake police "digital arrest" calls).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0F766E"/>
                </a:solidFill>
                <a:latin typeface="Google Sans Flex"/>
              </a:rPr>
              <a:t>•  </a:t>
            </a:r>
            <a:r>
              <a:rPr sz="1200" b="0" i="0">
                <a:solidFill>
                  <a:srgbClr val="0B1F33"/>
                </a:solidFill>
                <a:latin typeface="Google Sans Flex"/>
              </a:rPr>
              <a:t>Safe link scanning in an isolated browser.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320040" y="1280160"/>
            <a:ext cx="2057400" cy="1645920"/>
          </a:xfrm>
          <a:prstGeom prst="roundRect">
            <a:avLst>
              <a:gd name="adj" fmla="val 8000"/>
            </a:avLst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93192" y="1335024"/>
            <a:ext cx="1911095" cy="1554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0F766E"/>
                </a:solidFill>
                <a:latin typeface="Google Sans Flex"/>
              </a:rPr>
              <a:t>5 input types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0B1F33"/>
                </a:solidFill>
                <a:latin typeface="Google Sans Flex"/>
              </a:rPr>
              <a:t>Text, screenshot, QR code, link and voice note.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468880" y="1280160"/>
            <a:ext cx="2057400" cy="1645920"/>
          </a:xfrm>
          <a:prstGeom prst="roundRect">
            <a:avLst>
              <a:gd name="adj" fmla="val 8000"/>
            </a:avLst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542032" y="1335024"/>
            <a:ext cx="1911095" cy="1554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0F766E"/>
                </a:solidFill>
                <a:latin typeface="Google Sans Flex"/>
              </a:rPr>
              <a:t>Clear verdict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0B1F33"/>
                </a:solidFill>
                <a:latin typeface="Google Sans Flex"/>
              </a:rPr>
              <a:t>Scam, Suspicious or No scam signs found, plus a risk score. Never "safe".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617720" y="1280160"/>
            <a:ext cx="2057400" cy="1645920"/>
          </a:xfrm>
          <a:prstGeom prst="roundRect">
            <a:avLst>
              <a:gd name="adj" fmla="val 8000"/>
            </a:avLst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690872" y="1335024"/>
            <a:ext cx="1911095" cy="1554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0F766E"/>
                </a:solidFill>
                <a:latin typeface="Google Sans Flex"/>
              </a:rPr>
              <a:t>Evidence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0B1F33"/>
                </a:solidFill>
                <a:latin typeface="Google Sans Flex"/>
              </a:rPr>
              <a:t>Every red flag quotes the words or part of the image it is based on.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6766560" y="1280160"/>
            <a:ext cx="2057400" cy="1645920"/>
          </a:xfrm>
          <a:prstGeom prst="roundRect">
            <a:avLst>
              <a:gd name="adj" fmla="val 8000"/>
            </a:avLst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839712" y="1335024"/>
            <a:ext cx="1911095" cy="1554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0F766E"/>
                </a:solidFill>
                <a:latin typeface="Google Sans Flex"/>
              </a:rPr>
              <a:t>English + Hindi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0B1F33"/>
                </a:solidFill>
                <a:latin typeface="Google Sans Flex"/>
              </a:rPr>
              <a:t>Hinglish understood; answers in the language you pick.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320040" y="3017520"/>
            <a:ext cx="2057400" cy="1645920"/>
          </a:xfrm>
          <a:prstGeom prst="roundRect">
            <a:avLst>
              <a:gd name="adj" fmla="val 8000"/>
            </a:avLst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93192" y="3072384"/>
            <a:ext cx="1911095" cy="1554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0F766E"/>
                </a:solidFill>
                <a:latin typeface="Google Sans Flex"/>
              </a:rPr>
              <a:t>Complaint draft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0B1F33"/>
                </a:solidFill>
                <a:latin typeface="Google Sans Flex"/>
              </a:rPr>
              <a:t>Ready-to-file text for 1930 and cybercrime.gov.in.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2468880" y="3017520"/>
            <a:ext cx="2057400" cy="1645920"/>
          </a:xfrm>
          <a:prstGeom prst="roundRect">
            <a:avLst>
              <a:gd name="adj" fmla="val 8000"/>
            </a:avLst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2542032" y="3072384"/>
            <a:ext cx="1911095" cy="1554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0F766E"/>
                </a:solidFill>
                <a:latin typeface="Google Sans Flex"/>
              </a:rPr>
              <a:t>Shared scam list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0B1F33"/>
                </a:solidFill>
                <a:latin typeface="Google Sans Flex"/>
              </a:rPr>
              <a:t>"Reported N times", with linked numbers, UPI IDs and websites.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617720" y="3017520"/>
            <a:ext cx="2057400" cy="1645920"/>
          </a:xfrm>
          <a:prstGeom prst="roundRect">
            <a:avLst>
              <a:gd name="adj" fmla="val 8000"/>
            </a:avLst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690872" y="3072384"/>
            <a:ext cx="1911095" cy="1554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0F766E"/>
                </a:solidFill>
                <a:latin typeface="Google Sans Flex"/>
              </a:rPr>
              <a:t>Warning card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0B1F33"/>
                </a:solidFill>
                <a:latin typeface="Google Sans Flex"/>
              </a:rPr>
              <a:t>One tap to share a warning to the family WhatsApp group.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766560" y="3017520"/>
            <a:ext cx="2057400" cy="1645920"/>
          </a:xfrm>
          <a:prstGeom prst="roundRect">
            <a:avLst>
              <a:gd name="adj" fmla="val 8000"/>
            </a:avLst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839712" y="3072384"/>
            <a:ext cx="1911095" cy="1554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0F766E"/>
                </a:solidFill>
                <a:latin typeface="Google Sans Flex"/>
              </a:rPr>
              <a:t>Everyday extras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0B1F33"/>
                </a:solidFill>
                <a:latin typeface="Google Sans Flex"/>
              </a:rPr>
              <a:t>Trends, history, one-click examples, installable app, Android share menu, WebMCP agent tools.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320040" y="1325880"/>
            <a:ext cx="1920240" cy="1325880"/>
          </a:xfrm>
          <a:prstGeom prst="roundRect">
            <a:avLst>
              <a:gd name="adj" fmla="val 8000"/>
            </a:avLst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93192" y="1380744"/>
            <a:ext cx="1773936" cy="123443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0F766E"/>
                </a:solidFill>
                <a:latin typeface="Google Sans Flex"/>
              </a:rPr>
              <a:t>1  Input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0B1F33"/>
                </a:solidFill>
                <a:latin typeface="Google Sans Flex"/>
              </a:rPr>
              <a:t>Text, screenshot, QR, link or voice note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2267712" y="1988819"/>
            <a:ext cx="219456" cy="0"/>
          </a:xfrm>
          <a:prstGeom prst="line">
            <a:avLst/>
          </a:prstGeom>
          <a:ln w="25400">
            <a:solidFill>
              <a:srgbClr val="0F76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Rounded Rectangle 98"/>
          <p:cNvSpPr/>
          <p:nvPr/>
        </p:nvSpPr>
        <p:spPr>
          <a:xfrm>
            <a:off x="2514600" y="1325880"/>
            <a:ext cx="1920240" cy="1325880"/>
          </a:xfrm>
          <a:prstGeom prst="roundRect">
            <a:avLst>
              <a:gd name="adj" fmla="val 8000"/>
            </a:avLst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2587752" y="1380744"/>
            <a:ext cx="1773936" cy="123443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0F766E"/>
                </a:solidFill>
                <a:latin typeface="Google Sans Flex"/>
              </a:rPr>
              <a:t>2  Limits and sign-in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0B1F33"/>
                </a:solidFill>
                <a:latin typeface="Google Sans Flex"/>
              </a:rPr>
              <a:t>Anonymous sign-in; per-user, per-IP and daily limits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4462272" y="1988819"/>
            <a:ext cx="219455" cy="0"/>
          </a:xfrm>
          <a:prstGeom prst="line">
            <a:avLst/>
          </a:prstGeom>
          <a:ln w="25400">
            <a:solidFill>
              <a:srgbClr val="0F76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ounded Rectangle 101"/>
          <p:cNvSpPr/>
          <p:nvPr/>
        </p:nvSpPr>
        <p:spPr>
          <a:xfrm>
            <a:off x="4709159" y="1325880"/>
            <a:ext cx="1920240" cy="1325880"/>
          </a:xfrm>
          <a:prstGeom prst="roundRect">
            <a:avLst>
              <a:gd name="adj" fmla="val 8000"/>
            </a:avLst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782312" y="1380744"/>
            <a:ext cx="1773936" cy="123443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0F766E"/>
                </a:solidFill>
                <a:latin typeface="Google Sans Flex"/>
              </a:rPr>
              <a:t>3  Extract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0B1F33"/>
                </a:solidFill>
                <a:latin typeface="Google Sans Flex"/>
              </a:rPr>
              <a:t>Phone numbers, UPI IDs, links; QR decoded; OTPs and card numbers blanked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6656832" y="1988819"/>
            <a:ext cx="219456" cy="0"/>
          </a:xfrm>
          <a:prstGeom prst="line">
            <a:avLst/>
          </a:prstGeom>
          <a:ln w="25400">
            <a:solidFill>
              <a:srgbClr val="0F76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Rounded Rectangle 104"/>
          <p:cNvSpPr/>
          <p:nvPr/>
        </p:nvSpPr>
        <p:spPr>
          <a:xfrm>
            <a:off x="6903719" y="1325880"/>
            <a:ext cx="1920240" cy="1325880"/>
          </a:xfrm>
          <a:prstGeom prst="roundRect">
            <a:avLst>
              <a:gd name="adj" fmla="val 8000"/>
            </a:avLst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976871" y="1380744"/>
            <a:ext cx="1773936" cy="123443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0F766E"/>
                </a:solidFill>
                <a:latin typeface="Google Sans Flex"/>
              </a:rPr>
              <a:t>4  Scam-list lookup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0B1F33"/>
                </a:solidFill>
                <a:latin typeface="Google Sans Flex"/>
              </a:rPr>
              <a:t>Firestore: "Reported N times" and linked identifiers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320040" y="3063239"/>
            <a:ext cx="1920240" cy="1325880"/>
          </a:xfrm>
          <a:prstGeom prst="roundRect">
            <a:avLst>
              <a:gd name="adj" fmla="val 8000"/>
            </a:avLst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393192" y="3118103"/>
            <a:ext cx="1773936" cy="123443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0F766E"/>
                </a:solidFill>
                <a:latin typeface="Google Sans Flex"/>
              </a:rPr>
              <a:t>5  Isolated link scan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0B1F33"/>
                </a:solidFill>
                <a:latin typeface="Google Sans Flex"/>
              </a:rPr>
              <a:t>Private Cloud Run service opens the link; final URL, page text, screenshot</a:t>
            </a:r>
          </a:p>
        </p:txBody>
      </p:sp>
      <p:cxnSp>
        <p:nvCxnSpPr>
          <p:cNvPr id="109" name="Connector 108"/>
          <p:cNvCxnSpPr/>
          <p:nvPr/>
        </p:nvCxnSpPr>
        <p:spPr>
          <a:xfrm>
            <a:off x="2267712" y="3726179"/>
            <a:ext cx="219456" cy="0"/>
          </a:xfrm>
          <a:prstGeom prst="line">
            <a:avLst/>
          </a:prstGeom>
          <a:ln w="25400">
            <a:solidFill>
              <a:srgbClr val="0F76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Rounded Rectangle 109"/>
          <p:cNvSpPr/>
          <p:nvPr/>
        </p:nvSpPr>
        <p:spPr>
          <a:xfrm>
            <a:off x="2514600" y="3063239"/>
            <a:ext cx="1920240" cy="1325880"/>
          </a:xfrm>
          <a:prstGeom prst="roundRect">
            <a:avLst>
              <a:gd name="adj" fmla="val 8000"/>
            </a:avLst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587752" y="3118103"/>
            <a:ext cx="1773936" cy="123443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0F766E"/>
                </a:solidFill>
                <a:latin typeface="Google Sans Flex"/>
              </a:rPr>
              <a:t>6  Gemini verdict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0B1F33"/>
                </a:solidFill>
                <a:latin typeface="Google Sans Flex"/>
              </a:rPr>
              <a:t>One structured call reads text, image or audio; evidence quoted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4462272" y="3726179"/>
            <a:ext cx="219455" cy="0"/>
          </a:xfrm>
          <a:prstGeom prst="line">
            <a:avLst/>
          </a:prstGeom>
          <a:ln w="25400">
            <a:solidFill>
              <a:srgbClr val="0F76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ounded Rectangle 112"/>
          <p:cNvSpPr/>
          <p:nvPr/>
        </p:nvSpPr>
        <p:spPr>
          <a:xfrm>
            <a:off x="4709159" y="3063239"/>
            <a:ext cx="1920240" cy="1325880"/>
          </a:xfrm>
          <a:prstGeom prst="roundRect">
            <a:avLst>
              <a:gd name="adj" fmla="val 8000"/>
            </a:avLst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4782312" y="3118103"/>
            <a:ext cx="1773936" cy="123443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0F766E"/>
                </a:solidFill>
                <a:latin typeface="Google Sans Flex"/>
              </a:rPr>
              <a:t>7  Hard-signal checks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0B1F33"/>
                </a:solidFill>
                <a:latin typeface="Google Sans Flex"/>
              </a:rPr>
              <a:t>Reported scammers and QR pay-vs-receive can only raise the verdict</a:t>
            </a:r>
          </a:p>
        </p:txBody>
      </p:sp>
      <p:cxnSp>
        <p:nvCxnSpPr>
          <p:cNvPr id="115" name="Connector 114"/>
          <p:cNvCxnSpPr/>
          <p:nvPr/>
        </p:nvCxnSpPr>
        <p:spPr>
          <a:xfrm>
            <a:off x="6656832" y="3726179"/>
            <a:ext cx="219456" cy="0"/>
          </a:xfrm>
          <a:prstGeom prst="line">
            <a:avLst/>
          </a:prstGeom>
          <a:ln w="25400">
            <a:solidFill>
              <a:srgbClr val="0F76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Rounded Rectangle 115"/>
          <p:cNvSpPr/>
          <p:nvPr/>
        </p:nvSpPr>
        <p:spPr>
          <a:xfrm>
            <a:off x="6903719" y="3063239"/>
            <a:ext cx="1920240" cy="1325880"/>
          </a:xfrm>
          <a:prstGeom prst="roundRect">
            <a:avLst>
              <a:gd name="adj" fmla="val 8000"/>
            </a:avLst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976871" y="3118103"/>
            <a:ext cx="1773936" cy="123443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0F766E"/>
                </a:solidFill>
                <a:latin typeface="Google Sans Flex"/>
              </a:rPr>
              <a:t>8  Result and actions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0B1F33"/>
                </a:solidFill>
                <a:latin typeface="Google Sans Flex"/>
              </a:rPr>
              <a:t>Report, complaint draft, warning card, History</a:t>
            </a:r>
          </a:p>
        </p:txBody>
      </p:sp>
      <p:cxnSp>
        <p:nvCxnSpPr>
          <p:cNvPr id="118" name="Connector 117"/>
          <p:cNvCxnSpPr/>
          <p:nvPr/>
        </p:nvCxnSpPr>
        <p:spPr>
          <a:xfrm>
            <a:off x="7863840" y="2651760"/>
            <a:ext cx="0" cy="201168"/>
          </a:xfrm>
          <a:prstGeom prst="line">
            <a:avLst/>
          </a:prstGeom>
          <a:ln w="25400">
            <a:solidFill>
              <a:srgbClr val="0F76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H="1">
            <a:off x="1280160" y="2852928"/>
            <a:ext cx="6583680" cy="0"/>
          </a:xfrm>
          <a:prstGeom prst="line">
            <a:avLst/>
          </a:prstGeom>
          <a:ln w="25400">
            <a:solidFill>
              <a:srgbClr val="0F76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1280160" y="2852928"/>
            <a:ext cx="0" cy="210312"/>
          </a:xfrm>
          <a:prstGeom prst="line">
            <a:avLst/>
          </a:prstGeom>
          <a:ln w="25400">
            <a:solidFill>
              <a:srgbClr val="0F76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TextBox 120"/>
          <p:cNvSpPr txBox="1"/>
          <p:nvPr/>
        </p:nvSpPr>
        <p:spPr>
          <a:xfrm>
            <a:off x="320040" y="4572000"/>
            <a:ext cx="85039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0" i="1">
                <a:solidFill>
                  <a:srgbClr val="5B6778"/>
                </a:solidFill>
                <a:latin typeface="Google Sans Flex"/>
              </a:rPr>
              <a:t>If Gemini fails or times out, the person sees a clear retry message; no verdict is invented and nothing is stored.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04" name="Picture 103" descr="02-check-mobile.png"/>
          <p:cNvPicPr>
            <a:picLocks noChangeAspect="1"/>
          </p:cNvPicPr>
          <p:nvPr/>
        </p:nvPicPr>
        <p:blipFill>
          <a:blip r:embed="rId5"/>
          <a:srcRect b="201"/>
          <a:stretch>
            <a:fillRect/>
          </a:stretch>
        </p:blipFill>
        <p:spPr>
          <a:xfrm>
            <a:off x="658368" y="1261872"/>
            <a:ext cx="1545336" cy="3337560"/>
          </a:xfrm>
          <a:prstGeom prst="rect">
            <a:avLst/>
          </a:prstGeom>
          <a:ln w="9525">
            <a:solidFill>
              <a:srgbClr val="C9D3DD"/>
            </a:solidFill>
          </a:ln>
        </p:spPr>
      </p:pic>
      <p:sp>
        <p:nvSpPr>
          <p:cNvPr id="105" name="TextBox 104"/>
          <p:cNvSpPr txBox="1"/>
          <p:nvPr/>
        </p:nvSpPr>
        <p:spPr>
          <a:xfrm>
            <a:off x="475488" y="4645152"/>
            <a:ext cx="1911095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 i="0">
                <a:solidFill>
                  <a:srgbClr val="5B6778"/>
                </a:solidFill>
                <a:latin typeface="Google Sans Flex"/>
              </a:rPr>
              <a:t>Check</a:t>
            </a:r>
          </a:p>
        </p:txBody>
      </p:sp>
      <p:pic>
        <p:nvPicPr>
          <p:cNvPr id="106" name="Picture 105" descr="03-result-scam-mobile.png"/>
          <p:cNvPicPr>
            <a:picLocks noChangeAspect="1"/>
          </p:cNvPicPr>
          <p:nvPr/>
        </p:nvPicPr>
        <p:blipFill>
          <a:blip r:embed="rId6"/>
          <a:srcRect b="201"/>
          <a:stretch>
            <a:fillRect/>
          </a:stretch>
        </p:blipFill>
        <p:spPr>
          <a:xfrm>
            <a:off x="2752344" y="1261872"/>
            <a:ext cx="1545336" cy="3337560"/>
          </a:xfrm>
          <a:prstGeom prst="rect">
            <a:avLst/>
          </a:prstGeom>
          <a:ln w="9525">
            <a:solidFill>
              <a:srgbClr val="C9D3DD"/>
            </a:solidFill>
          </a:ln>
        </p:spPr>
      </p:pic>
      <p:sp>
        <p:nvSpPr>
          <p:cNvPr id="107" name="TextBox 106"/>
          <p:cNvSpPr txBox="1"/>
          <p:nvPr/>
        </p:nvSpPr>
        <p:spPr>
          <a:xfrm>
            <a:off x="2569464" y="4645152"/>
            <a:ext cx="1911095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 i="0">
                <a:solidFill>
                  <a:srgbClr val="5B6778"/>
                </a:solidFill>
                <a:latin typeface="Google Sans Flex"/>
              </a:rPr>
              <a:t>Result</a:t>
            </a:r>
          </a:p>
        </p:txBody>
      </p:sp>
      <p:pic>
        <p:nvPicPr>
          <p:cNvPr id="108" name="Picture 107" descr="06-complaint-mobile.png"/>
          <p:cNvPicPr>
            <a:picLocks noChangeAspect="1"/>
          </p:cNvPicPr>
          <p:nvPr/>
        </p:nvPicPr>
        <p:blipFill>
          <a:blip r:embed="rId7"/>
          <a:srcRect b="38338"/>
          <a:stretch>
            <a:fillRect/>
          </a:stretch>
        </p:blipFill>
        <p:spPr>
          <a:xfrm>
            <a:off x="4846320" y="1261872"/>
            <a:ext cx="1545336" cy="3337560"/>
          </a:xfrm>
          <a:prstGeom prst="rect">
            <a:avLst/>
          </a:prstGeom>
          <a:ln w="9525">
            <a:solidFill>
              <a:srgbClr val="C9D3DD"/>
            </a:solidFill>
          </a:ln>
        </p:spPr>
      </p:pic>
      <p:sp>
        <p:nvSpPr>
          <p:cNvPr id="109" name="TextBox 108"/>
          <p:cNvSpPr txBox="1"/>
          <p:nvPr/>
        </p:nvSpPr>
        <p:spPr>
          <a:xfrm>
            <a:off x="4663440" y="4645152"/>
            <a:ext cx="1911095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 i="0">
                <a:solidFill>
                  <a:srgbClr val="5B6778"/>
                </a:solidFill>
                <a:latin typeface="Google Sans Flex"/>
              </a:rPr>
              <a:t>Complaint draft</a:t>
            </a:r>
          </a:p>
        </p:txBody>
      </p:sp>
      <p:pic>
        <p:nvPicPr>
          <p:cNvPr id="110" name="Picture 109" descr="09-check-hindi-mobile.png"/>
          <p:cNvPicPr>
            <a:picLocks noChangeAspect="1"/>
          </p:cNvPicPr>
          <p:nvPr/>
        </p:nvPicPr>
        <p:blipFill>
          <a:blip r:embed="rId8"/>
          <a:srcRect b="201"/>
          <a:stretch>
            <a:fillRect/>
          </a:stretch>
        </p:blipFill>
        <p:spPr>
          <a:xfrm>
            <a:off x="6940296" y="1261872"/>
            <a:ext cx="1545336" cy="3337560"/>
          </a:xfrm>
          <a:prstGeom prst="rect">
            <a:avLst/>
          </a:prstGeom>
          <a:ln w="9525">
            <a:solidFill>
              <a:srgbClr val="C9D3DD"/>
            </a:solidFill>
          </a:ln>
        </p:spPr>
      </p:pic>
      <p:sp>
        <p:nvSpPr>
          <p:cNvPr id="111" name="TextBox 110"/>
          <p:cNvSpPr txBox="1"/>
          <p:nvPr/>
        </p:nvSpPr>
        <p:spPr>
          <a:xfrm>
            <a:off x="6757416" y="4645152"/>
            <a:ext cx="1911095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 i="0">
                <a:solidFill>
                  <a:srgbClr val="5B6778"/>
                </a:solidFill>
                <a:latin typeface="Google Sans Flex"/>
              </a:rPr>
              <a:t>Hindi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320040" y="2286000"/>
            <a:ext cx="1737360" cy="1188720"/>
          </a:xfrm>
          <a:prstGeom prst="roundRect">
            <a:avLst>
              <a:gd name="adj" fmla="val 8000"/>
            </a:avLst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93192" y="2340864"/>
            <a:ext cx="1591056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0F766E"/>
                </a:solidFill>
                <a:latin typeface="Google Sans Flex"/>
              </a:rPr>
              <a:t>Browser / installed app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0B1F33"/>
                </a:solidFill>
                <a:latin typeface="Google Sans Flex"/>
              </a:rPr>
              <a:t>React PWA, English and Hindi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2606040" y="1280160"/>
            <a:ext cx="2011680" cy="777240"/>
          </a:xfrm>
          <a:prstGeom prst="roundRect">
            <a:avLst>
              <a:gd name="adj" fmla="val 8000"/>
            </a:avLst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2679192" y="1335024"/>
            <a:ext cx="1865376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0F766E"/>
                </a:solidFill>
                <a:latin typeface="Google Sans Flex"/>
              </a:rPr>
              <a:t>Firebase Hosting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0B1F33"/>
                </a:solidFill>
                <a:latin typeface="Google Sans Flex"/>
              </a:rPr>
              <a:t>Web app; /api/** rewrite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2606040" y="2240280"/>
            <a:ext cx="2011680" cy="1280160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2679192" y="2295144"/>
            <a:ext cx="1865376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Google Sans Flex"/>
              </a:rPr>
              <a:t>Cloud Run: API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FFFFFF"/>
                </a:solidFill>
                <a:latin typeface="Google Sans Flex"/>
              </a:rPr>
              <a:t>Limits, extraction, scam-list lookup, hard signals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2606040" y="3931920"/>
            <a:ext cx="2011680" cy="777240"/>
          </a:xfrm>
          <a:prstGeom prst="roundRect">
            <a:avLst>
              <a:gd name="adj" fmla="val 8000"/>
            </a:avLst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679192" y="3986783"/>
            <a:ext cx="1865376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0F766E"/>
                </a:solidFill>
                <a:latin typeface="Google Sans Flex"/>
              </a:rPr>
              <a:t>Firebase Auth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0B1F33"/>
                </a:solidFill>
                <a:latin typeface="Google Sans Flex"/>
              </a:rPr>
              <a:t>Anonymous + Google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486400" y="1280160"/>
            <a:ext cx="3337560" cy="640080"/>
          </a:xfrm>
          <a:prstGeom prst="roundRect">
            <a:avLst>
              <a:gd name="adj" fmla="val 8000"/>
            </a:avLst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559552" y="1335024"/>
            <a:ext cx="3191256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0F766E"/>
                </a:solidFill>
                <a:latin typeface="Google Sans Flex"/>
              </a:rPr>
              <a:t>Gemini on Vertex AI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0B1F33"/>
                </a:solidFill>
                <a:latin typeface="Google Sans Flex"/>
              </a:rPr>
              <a:t>Structured verdict from text, image or audio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5486400" y="2011680"/>
            <a:ext cx="3337560" cy="640080"/>
          </a:xfrm>
          <a:prstGeom prst="roundRect">
            <a:avLst>
              <a:gd name="adj" fmla="val 8000"/>
            </a:avLst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559552" y="2066544"/>
            <a:ext cx="3191256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0F766E"/>
                </a:solidFill>
                <a:latin typeface="Google Sans Flex"/>
              </a:rPr>
              <a:t>Firestore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0B1F33"/>
                </a:solidFill>
                <a:latin typeface="Google Sans Flex"/>
              </a:rPr>
              <a:t>Scam list, checks, reports, trend counters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5486400" y="2743200"/>
            <a:ext cx="3337560" cy="868680"/>
          </a:xfrm>
          <a:prstGeom prst="roundRect">
            <a:avLst>
              <a:gd name="adj" fmla="val 8000"/>
            </a:avLst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559552" y="2798064"/>
            <a:ext cx="3191256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0F766E"/>
                </a:solidFill>
                <a:latin typeface="Google Sans Flex"/>
              </a:rPr>
              <a:t>Cloud Run: link scanner (private)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0B1F33"/>
                </a:solidFill>
                <a:latin typeface="Google Sans Flex"/>
              </a:rPr>
              <a:t>Isolated Chromium behind a validating proxy; zero-role service account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486400" y="3931920"/>
            <a:ext cx="1600200" cy="777240"/>
          </a:xfrm>
          <a:prstGeom prst="roundRect">
            <a:avLst>
              <a:gd name="adj" fmla="val 8000"/>
            </a:avLst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559552" y="3986783"/>
            <a:ext cx="1453896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0F766E"/>
                </a:solidFill>
                <a:latin typeface="Google Sans Flex"/>
              </a:rPr>
              <a:t>Cloud Storage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0B1F33"/>
                </a:solidFill>
                <a:latin typeface="Google Sans Flex"/>
              </a:rPr>
              <a:t>Uploads, deleted after 7 days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7223760" y="3931920"/>
            <a:ext cx="1600200" cy="777240"/>
          </a:xfrm>
          <a:prstGeom prst="roundRect">
            <a:avLst>
              <a:gd name="adj" fmla="val 8000"/>
            </a:avLst>
          </a:prstGeom>
          <a:solidFill>
            <a:srgbClr val="FDE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7296912" y="3986783"/>
            <a:ext cx="1453896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B42318"/>
                </a:solidFill>
                <a:latin typeface="Google Sans Flex"/>
              </a:rPr>
              <a:t>Suspicious site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0B1F33"/>
                </a:solidFill>
                <a:latin typeface="Google Sans Flex"/>
              </a:rPr>
              <a:t>Never opened on the phone</a:t>
            </a:r>
          </a:p>
        </p:txBody>
      </p:sp>
      <p:cxnSp>
        <p:nvCxnSpPr>
          <p:cNvPr id="130" name="Connector 129"/>
          <p:cNvCxnSpPr/>
          <p:nvPr/>
        </p:nvCxnSpPr>
        <p:spPr>
          <a:xfrm flipV="1">
            <a:off x="2057400" y="1783080"/>
            <a:ext cx="548640" cy="822960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>
            <a:off x="3611880" y="2057400"/>
            <a:ext cx="0" cy="182880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>
            <a:off x="2057400" y="2880360"/>
            <a:ext cx="548640" cy="0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>
            <a:off x="2057400" y="3200400"/>
            <a:ext cx="548640" cy="1005840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4617720" y="1600200"/>
            <a:ext cx="868680" cy="822960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4617720" y="2331720"/>
            <a:ext cx="868680" cy="365760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>
            <a:off x="4617720" y="3017520"/>
            <a:ext cx="868680" cy="137160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>
            <a:off x="4617720" y="3383280"/>
            <a:ext cx="868680" cy="914400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8046720" y="3611880"/>
            <a:ext cx="0" cy="320040"/>
          </a:xfrm>
          <a:prstGeom prst="line">
            <a:avLst/>
          </a:prstGeom>
          <a:ln w="19050">
            <a:solidFill>
              <a:srgbClr val="B4231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TextBox 138"/>
          <p:cNvSpPr txBox="1"/>
          <p:nvPr/>
        </p:nvSpPr>
        <p:spPr>
          <a:xfrm>
            <a:off x="320040" y="4736592"/>
            <a:ext cx="85039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 i="1">
                <a:solidFill>
                  <a:srgbClr val="5B6778"/>
                </a:solidFill>
                <a:latin typeface="Google Sans Flex"/>
              </a:rPr>
              <a:t>The web app reads its own checks and the public trends from Firestore; uploads go straight to Storage.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Rounded Rectangle 119"/>
          <p:cNvSpPr/>
          <p:nvPr/>
        </p:nvSpPr>
        <p:spPr>
          <a:xfrm>
            <a:off x="320040" y="1280160"/>
            <a:ext cx="4160520" cy="3566160"/>
          </a:xfrm>
          <a:prstGeom prst="roundRect">
            <a:avLst>
              <a:gd name="adj" fmla="val 8000"/>
            </a:avLst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393192" y="1335024"/>
            <a:ext cx="4014215" cy="3474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0F766E"/>
                </a:solidFill>
                <a:latin typeface="Google Sans Flex"/>
              </a:rPr>
              <a:t>Google Cloud and Firebase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11480" y="1691640"/>
            <a:ext cx="3977639" cy="3108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0" i="0">
                <a:solidFill>
                  <a:srgbClr val="0F766E"/>
                </a:solidFill>
                <a:latin typeface="Google Sans Flex"/>
              </a:rPr>
              <a:t>•  </a:t>
            </a:r>
            <a:r>
              <a:rPr sz="1300" b="0" i="0">
                <a:solidFill>
                  <a:srgbClr val="0B1F33"/>
                </a:solidFill>
                <a:latin typeface="Google Sans Flex"/>
              </a:rPr>
              <a:t>Gemini on Vertex AI: gemini-3.7-flash, with gemini-2.5-flash as the automatic fallback; text, image and audio in one structured call</a:t>
            </a:r>
          </a:p>
          <a:p>
            <a:pPr algn="l">
              <a:spcAft>
                <a:spcPts val="900"/>
              </a:spcAft>
            </a:pPr>
            <a:r>
              <a:rPr sz="1300" b="0" i="0">
                <a:solidFill>
                  <a:srgbClr val="0F766E"/>
                </a:solidFill>
                <a:latin typeface="Google Sans Flex"/>
              </a:rPr>
              <a:t>•  </a:t>
            </a:r>
            <a:r>
              <a:rPr sz="1300" b="0" i="0">
                <a:solidFill>
                  <a:srgbClr val="0B1F33"/>
                </a:solidFill>
                <a:latin typeface="Google Sans Flex"/>
              </a:rPr>
              <a:t>Cloud Run: two services (public API, private link scanner)</a:t>
            </a:r>
          </a:p>
          <a:p>
            <a:pPr algn="l">
              <a:spcAft>
                <a:spcPts val="900"/>
              </a:spcAft>
            </a:pPr>
            <a:r>
              <a:rPr sz="1300" b="0" i="0">
                <a:solidFill>
                  <a:srgbClr val="0F766E"/>
                </a:solidFill>
                <a:latin typeface="Google Sans Flex"/>
              </a:rPr>
              <a:t>•  </a:t>
            </a:r>
            <a:r>
              <a:rPr sz="1300" b="0" i="0">
                <a:solidFill>
                  <a:srgbClr val="0B1F33"/>
                </a:solidFill>
                <a:latin typeface="Google Sans Flex"/>
              </a:rPr>
              <a:t>Firestore: scam list, checks, reports, trends, usage limits</a:t>
            </a:r>
          </a:p>
          <a:p>
            <a:pPr algn="l">
              <a:spcAft>
                <a:spcPts val="900"/>
              </a:spcAft>
            </a:pPr>
            <a:r>
              <a:rPr sz="1300" b="0" i="0">
                <a:solidFill>
                  <a:srgbClr val="0F766E"/>
                </a:solidFill>
                <a:latin typeface="Google Sans Flex"/>
              </a:rPr>
              <a:t>•  </a:t>
            </a:r>
            <a:r>
              <a:rPr sz="1300" b="0" i="0">
                <a:solidFill>
                  <a:srgbClr val="0B1F33"/>
                </a:solidFill>
                <a:latin typeface="Google Sans Flex"/>
              </a:rPr>
              <a:t>Firebase Authentication (anonymous, Google), Hosting, Storage</a:t>
            </a:r>
          </a:p>
          <a:p>
            <a:pPr algn="l">
              <a:spcAft>
                <a:spcPts val="900"/>
              </a:spcAft>
            </a:pPr>
            <a:r>
              <a:rPr sz="1300" b="0" i="0">
                <a:solidFill>
                  <a:srgbClr val="0F766E"/>
                </a:solidFill>
                <a:latin typeface="Google Sans Flex"/>
              </a:rPr>
              <a:t>•  </a:t>
            </a:r>
            <a:r>
              <a:rPr sz="1300" b="0" i="0">
                <a:solidFill>
                  <a:srgbClr val="0B1F33"/>
                </a:solidFill>
                <a:latin typeface="Google Sans Flex"/>
              </a:rPr>
              <a:t>Cloud Build and Artifact Registry for deploys; Cloud Text-to-Speech for the voice example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4663440" y="1280160"/>
            <a:ext cx="4160520" cy="3566160"/>
          </a:xfrm>
          <a:prstGeom prst="roundRect">
            <a:avLst>
              <a:gd name="adj" fmla="val 8000"/>
            </a:avLst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4736592" y="1335024"/>
            <a:ext cx="4014215" cy="3474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0F766E"/>
                </a:solidFill>
                <a:latin typeface="Google Sans Flex"/>
              </a:rPr>
              <a:t>Application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754880" y="1691640"/>
            <a:ext cx="3977639" cy="3108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0" i="0">
                <a:solidFill>
                  <a:srgbClr val="0F766E"/>
                </a:solidFill>
                <a:latin typeface="Google Sans Flex"/>
              </a:rPr>
              <a:t>•  </a:t>
            </a:r>
            <a:r>
              <a:rPr sz="1300" b="0" i="0">
                <a:solidFill>
                  <a:srgbClr val="0B1F33"/>
                </a:solidFill>
                <a:latin typeface="Google Sans Flex"/>
              </a:rPr>
              <a:t>React 18, Vite, Tailwind, Workbox PWA with an Android share target</a:t>
            </a:r>
          </a:p>
          <a:p>
            <a:pPr algn="l">
              <a:spcAft>
                <a:spcPts val="900"/>
              </a:spcAft>
            </a:pPr>
            <a:r>
              <a:rPr sz="1300" b="0" i="0">
                <a:solidFill>
                  <a:srgbClr val="0F766E"/>
                </a:solidFill>
                <a:latin typeface="Google Sans Flex"/>
              </a:rPr>
              <a:t>•  </a:t>
            </a:r>
            <a:r>
              <a:rPr sz="1300" b="0" i="0">
                <a:solidFill>
                  <a:srgbClr val="0B1F33"/>
                </a:solidFill>
                <a:latin typeface="Google Sans Flex"/>
              </a:rPr>
              <a:t>Node 22, TypeScript, Hono on Cloud Run</a:t>
            </a:r>
          </a:p>
          <a:p>
            <a:pPr algn="l">
              <a:spcAft>
                <a:spcPts val="900"/>
              </a:spcAft>
            </a:pPr>
            <a:r>
              <a:rPr sz="1300" b="0" i="0">
                <a:solidFill>
                  <a:srgbClr val="0F766E"/>
                </a:solidFill>
                <a:latin typeface="Google Sans Flex"/>
              </a:rPr>
              <a:t>•  </a:t>
            </a:r>
            <a:r>
              <a:rPr sz="1300" b="0" i="0">
                <a:solidFill>
                  <a:srgbClr val="0B1F33"/>
                </a:solidFill>
                <a:latin typeface="Google Sans Flex"/>
              </a:rPr>
              <a:t>Playwright / Chromium for the isolated link scanner</a:t>
            </a:r>
          </a:p>
          <a:p>
            <a:pPr algn="l">
              <a:spcAft>
                <a:spcPts val="900"/>
              </a:spcAft>
            </a:pPr>
            <a:r>
              <a:rPr sz="1300" b="0" i="0">
                <a:solidFill>
                  <a:srgbClr val="0F766E"/>
                </a:solidFill>
                <a:latin typeface="Google Sans Flex"/>
              </a:rPr>
              <a:t>•  </a:t>
            </a:r>
            <a:r>
              <a:rPr sz="1300" b="0" i="0">
                <a:solidFill>
                  <a:srgbClr val="0B1F33"/>
                </a:solidFill>
                <a:latin typeface="Google Sans Flex"/>
              </a:rPr>
              <a:t>zod schemas shared by web and API; sharp and jsQR for QR decoding</a:t>
            </a:r>
          </a:p>
          <a:p>
            <a:pPr algn="l">
              <a:spcAft>
                <a:spcPts val="900"/>
              </a:spcAft>
            </a:pPr>
            <a:r>
              <a:rPr sz="1300" b="0" i="0">
                <a:solidFill>
                  <a:srgbClr val="0F766E"/>
                </a:solidFill>
                <a:latin typeface="Google Sans Flex"/>
              </a:rPr>
              <a:t>•  </a:t>
            </a:r>
            <a:r>
              <a:rPr sz="1300" b="0" i="0">
                <a:solidFill>
                  <a:srgbClr val="0B1F33"/>
                </a:solidFill>
                <a:latin typeface="Google Sans Flex"/>
              </a:rPr>
              <a:t>Vitest: over 550 automated tests, plus a 50-case live benchmark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28" name="Table 127"/>
          <p:cNvGraphicFramePr>
            <a:graphicFrameLocks noGrp="1"/>
          </p:cNvGraphicFramePr>
          <p:nvPr/>
        </p:nvGraphicFramePr>
        <p:xfrm>
          <a:off x="320040" y="1325880"/>
          <a:ext cx="85039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00400"/>
                <a:gridCol w="3108960"/>
              </a:tblGrid>
              <a:tr h="5181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Google Sans Flex"/>
                        </a:rPr>
                        <a:t>Component</a:t>
                      </a:r>
                    </a:p>
                  </a:txBody>
                  <a:tcPr marL="73152" marR="73152" anchor="ctr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Google Sans Flex"/>
                        </a:rPr>
                        <a:t>Cost driver</a:t>
                      </a:r>
                    </a:p>
                  </a:txBody>
                  <a:tcPr marL="73152" marR="73152" anchor="ctr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Google Sans Flex"/>
                        </a:rPr>
                        <a:t>Note</a:t>
                      </a:r>
                    </a:p>
                  </a:txBody>
                  <a:tcPr marL="73152" marR="73152" anchor="ctr">
                    <a:solidFill>
                      <a:srgbClr val="0F766E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0B1F33"/>
                          </a:solidFill>
                          <a:latin typeface="Google Sans Flex"/>
                        </a:rPr>
                        <a:t>Cloud Run API</a:t>
                      </a:r>
                    </a:p>
                  </a:txBody>
                  <a:tcPr marL="73152" marR="73152" anchor="ctr">
                    <a:solidFill>
                      <a:srgbClr val="E6F4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0B1F33"/>
                          </a:solidFill>
                          <a:latin typeface="Google Sans Flex"/>
                        </a:rPr>
                        <a:t>One always-warm instance (1 vCPU, 1 GiB)</a:t>
                      </a:r>
                    </a:p>
                  </a:txBody>
                  <a:tcPr marL="73152" marR="73152" anchor="ctr">
                    <a:solidFill>
                      <a:srgbClr val="E6F4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0B1F33"/>
                          </a:solidFill>
                          <a:latin typeface="Google Sans Flex"/>
                        </a:rPr>
                        <a:t>Main fixed cost; avoids cold starts for users and judges</a:t>
                      </a:r>
                    </a:p>
                  </a:txBody>
                  <a:tcPr marL="73152" marR="73152" anchor="ctr">
                    <a:solidFill>
                      <a:srgbClr val="E6F4F1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0B1F33"/>
                          </a:solidFill>
                          <a:latin typeface="Google Sans Flex"/>
                        </a:rPr>
                        <a:t>Cloud Run link scanner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0B1F33"/>
                          </a:solidFill>
                          <a:latin typeface="Google Sans Flex"/>
                        </a:rPr>
                        <a:t>Per scan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0B1F33"/>
                          </a:solidFill>
                          <a:latin typeface="Google Sans Flex"/>
                        </a:rPr>
                        <a:t>Scales to zero when idle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0B1F33"/>
                          </a:solidFill>
                          <a:latin typeface="Google Sans Flex"/>
                        </a:rPr>
                        <a:t>Gemini on Vertex AI</a:t>
                      </a:r>
                    </a:p>
                  </a:txBody>
                  <a:tcPr marL="73152" marR="73152" anchor="ctr">
                    <a:solidFill>
                      <a:srgbClr val="E6F4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0B1F33"/>
                          </a:solidFill>
                          <a:latin typeface="Google Sans Flex"/>
                        </a:rPr>
                        <a:t>Per check (roughly 2 to 3 thousand input and 500 output tokens)</a:t>
                      </a:r>
                    </a:p>
                  </a:txBody>
                  <a:tcPr marL="73152" marR="73152" anchor="ctr">
                    <a:solidFill>
                      <a:srgbClr val="E6F4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0B1F33"/>
                          </a:solidFill>
                          <a:latin typeface="Google Sans Flex"/>
                        </a:rPr>
                        <a:t>Capped by 30 checks per user and 3,000 checks per day</a:t>
                      </a:r>
                    </a:p>
                  </a:txBody>
                  <a:tcPr marL="73152" marR="73152" anchor="ctr">
                    <a:solidFill>
                      <a:srgbClr val="E6F4F1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0B1F33"/>
                          </a:solidFill>
                          <a:latin typeface="Google Sans Flex"/>
                        </a:rPr>
                        <a:t>Firebase Hosting, Auth, Firestore, Storage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0B1F33"/>
                          </a:solidFill>
                          <a:latin typeface="Google Sans Flex"/>
                        </a:rPr>
                        <a:t>Usage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0B1F33"/>
                          </a:solidFill>
                          <a:latin typeface="Google Sans Flex"/>
                        </a:rPr>
                        <a:t>Expected to stay in free tiers at this volume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0B1F33"/>
                          </a:solidFill>
                          <a:latin typeface="Google Sans Flex"/>
                        </a:rPr>
                        <a:t>Budget alert</a:t>
                      </a:r>
                    </a:p>
                  </a:txBody>
                  <a:tcPr marL="73152" marR="73152" anchor="ctr">
                    <a:solidFill>
                      <a:srgbClr val="E6F4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0B1F33"/>
                          </a:solidFill>
                          <a:latin typeface="Google Sans Flex"/>
                        </a:rPr>
                        <a:t>Rs 1,000 per month</a:t>
                      </a:r>
                    </a:p>
                  </a:txBody>
                  <a:tcPr marL="73152" marR="73152" anchor="ctr">
                    <a:solidFill>
                      <a:srgbClr val="E6F4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0B1F33"/>
                          </a:solidFill>
                          <a:latin typeface="Google Sans Flex"/>
                        </a:rPr>
                        <a:t>Alerts at 50%, 90% and 100% of the budget</a:t>
                      </a:r>
                    </a:p>
                  </a:txBody>
                  <a:tcPr marL="73152" marR="73152" anchor="ctr">
                    <a:solidFill>
                      <a:srgbClr val="E6F4F1"/>
                    </a:solidFill>
                  </a:tcPr>
                </a:tc>
              </a:tr>
            </a:tbl>
          </a:graphicData>
        </a:graphic>
      </p:graphicFrame>
      <p:sp>
        <p:nvSpPr>
          <p:cNvPr id="129" name="TextBox 128"/>
          <p:cNvSpPr txBox="1"/>
          <p:nvPr/>
        </p:nvSpPr>
        <p:spPr>
          <a:xfrm>
            <a:off x="320040" y="4572000"/>
            <a:ext cx="85039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1">
                <a:solidFill>
                  <a:srgbClr val="5B6778"/>
                </a:solidFill>
                <a:latin typeface="Google Sans Flex"/>
              </a:rPr>
              <a:t>Estimates only. Exact figures depend on traffic and current Google Cloud prices; the budget alert is set on the project's billing account.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03-result-scam-mobile.png"/>
          <p:cNvPicPr>
            <a:picLocks noChangeAspect="1"/>
          </p:cNvPicPr>
          <p:nvPr/>
        </p:nvPicPr>
        <p:blipFill>
          <a:blip r:embed="rId5"/>
          <a:srcRect b="167"/>
          <a:stretch>
            <a:fillRect/>
          </a:stretch>
        </p:blipFill>
        <p:spPr>
          <a:xfrm>
            <a:off x="356615" y="1280160"/>
            <a:ext cx="1481328" cy="3200400"/>
          </a:xfrm>
          <a:prstGeom prst="rect">
            <a:avLst/>
          </a:prstGeom>
          <a:ln w="9525">
            <a:solidFill>
              <a:srgbClr val="C9D3DD"/>
            </a:solidFill>
          </a:ln>
        </p:spPr>
      </p:pic>
      <p:sp>
        <p:nvSpPr>
          <p:cNvPr id="137" name="TextBox 136"/>
          <p:cNvSpPr txBox="1"/>
          <p:nvPr/>
        </p:nvSpPr>
        <p:spPr>
          <a:xfrm>
            <a:off x="265175" y="4526280"/>
            <a:ext cx="1664208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 i="0">
                <a:solidFill>
                  <a:srgbClr val="5B6778"/>
                </a:solidFill>
                <a:latin typeface="Google Sans Flex"/>
              </a:rPr>
              <a:t>Scam verdict with evidence</a:t>
            </a:r>
          </a:p>
        </p:txBody>
      </p:sp>
      <p:pic>
        <p:nvPicPr>
          <p:cNvPr id="138" name="Picture 137" descr="04-result-qr-mobile.png"/>
          <p:cNvPicPr>
            <a:picLocks noChangeAspect="1"/>
          </p:cNvPicPr>
          <p:nvPr/>
        </p:nvPicPr>
        <p:blipFill>
          <a:blip r:embed="rId6"/>
          <a:srcRect b="72942"/>
          <a:stretch>
            <a:fillRect/>
          </a:stretch>
        </p:blipFill>
        <p:spPr>
          <a:xfrm>
            <a:off x="2093975" y="1280160"/>
            <a:ext cx="1481328" cy="3200400"/>
          </a:xfrm>
          <a:prstGeom prst="rect">
            <a:avLst/>
          </a:prstGeom>
          <a:ln w="9525">
            <a:solidFill>
              <a:srgbClr val="C9D3DD"/>
            </a:solidFill>
          </a:ln>
        </p:spPr>
      </p:pic>
      <p:sp>
        <p:nvSpPr>
          <p:cNvPr id="139" name="TextBox 138"/>
          <p:cNvSpPr txBox="1"/>
          <p:nvPr/>
        </p:nvSpPr>
        <p:spPr>
          <a:xfrm>
            <a:off x="2002535" y="4526280"/>
            <a:ext cx="1664208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 i="0">
                <a:solidFill>
                  <a:srgbClr val="5B6778"/>
                </a:solidFill>
                <a:latin typeface="Google Sans Flex"/>
              </a:rPr>
              <a:t>QR that asks you to pay</a:t>
            </a:r>
          </a:p>
        </p:txBody>
      </p:sp>
      <p:pic>
        <p:nvPicPr>
          <p:cNvPr id="140" name="Picture 139" descr="10-result-hindi-voice-mobile.png"/>
          <p:cNvPicPr>
            <a:picLocks noChangeAspect="1"/>
          </p:cNvPicPr>
          <p:nvPr/>
        </p:nvPicPr>
        <p:blipFill>
          <a:blip r:embed="rId7"/>
          <a:srcRect b="68228"/>
          <a:stretch>
            <a:fillRect/>
          </a:stretch>
        </p:blipFill>
        <p:spPr>
          <a:xfrm>
            <a:off x="3831335" y="1280160"/>
            <a:ext cx="1481328" cy="3200400"/>
          </a:xfrm>
          <a:prstGeom prst="rect">
            <a:avLst/>
          </a:prstGeom>
          <a:ln w="9525">
            <a:solidFill>
              <a:srgbClr val="C9D3DD"/>
            </a:solidFill>
          </a:ln>
        </p:spPr>
      </p:pic>
      <p:sp>
        <p:nvSpPr>
          <p:cNvPr id="141" name="TextBox 140"/>
          <p:cNvSpPr txBox="1"/>
          <p:nvPr/>
        </p:nvSpPr>
        <p:spPr>
          <a:xfrm>
            <a:off x="3739895" y="4526280"/>
            <a:ext cx="1664208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 i="0">
                <a:solidFill>
                  <a:srgbClr val="5B6778"/>
                </a:solidFill>
                <a:latin typeface="Google Sans Flex"/>
              </a:rPr>
              <a:t>Hindi voice note</a:t>
            </a:r>
          </a:p>
        </p:txBody>
      </p:sp>
      <p:pic>
        <p:nvPicPr>
          <p:cNvPr id="142" name="Picture 141" descr="05-result-no-signs-mobile.png"/>
          <p:cNvPicPr>
            <a:picLocks noChangeAspect="1"/>
          </p:cNvPicPr>
          <p:nvPr/>
        </p:nvPicPr>
        <p:blipFill>
          <a:blip r:embed="rId8"/>
          <a:srcRect b="167"/>
          <a:stretch>
            <a:fillRect/>
          </a:stretch>
        </p:blipFill>
        <p:spPr>
          <a:xfrm>
            <a:off x="5568695" y="1280160"/>
            <a:ext cx="1481328" cy="3200400"/>
          </a:xfrm>
          <a:prstGeom prst="rect">
            <a:avLst/>
          </a:prstGeom>
          <a:ln w="9525">
            <a:solidFill>
              <a:srgbClr val="C9D3DD"/>
            </a:solidFill>
          </a:ln>
        </p:spPr>
      </p:pic>
      <p:sp>
        <p:nvSpPr>
          <p:cNvPr id="143" name="TextBox 142"/>
          <p:cNvSpPr txBox="1"/>
          <p:nvPr/>
        </p:nvSpPr>
        <p:spPr>
          <a:xfrm>
            <a:off x="5477255" y="4526280"/>
            <a:ext cx="1664208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 i="0">
                <a:solidFill>
                  <a:srgbClr val="5B6778"/>
                </a:solidFill>
                <a:latin typeface="Google Sans Flex"/>
              </a:rPr>
              <a:t>No scam signs found</a:t>
            </a:r>
          </a:p>
        </p:txBody>
      </p:sp>
      <p:pic>
        <p:nvPicPr>
          <p:cNvPr id="144" name="Picture 143" descr="07-report-dialog-mobile.png"/>
          <p:cNvPicPr>
            <a:picLocks noChangeAspect="1"/>
          </p:cNvPicPr>
          <p:nvPr/>
        </p:nvPicPr>
        <p:blipFill>
          <a:blip r:embed="rId9"/>
          <a:srcRect b="167"/>
          <a:stretch>
            <a:fillRect/>
          </a:stretch>
        </p:blipFill>
        <p:spPr>
          <a:xfrm>
            <a:off x="7306055" y="1280160"/>
            <a:ext cx="1481328" cy="3200400"/>
          </a:xfrm>
          <a:prstGeom prst="rect">
            <a:avLst/>
          </a:prstGeom>
          <a:ln w="9525">
            <a:solidFill>
              <a:srgbClr val="C9D3DD"/>
            </a:solidFill>
          </a:ln>
        </p:spPr>
      </p:pic>
      <p:sp>
        <p:nvSpPr>
          <p:cNvPr id="145" name="TextBox 144"/>
          <p:cNvSpPr txBox="1"/>
          <p:nvPr/>
        </p:nvSpPr>
        <p:spPr>
          <a:xfrm>
            <a:off x="7214616" y="4526280"/>
            <a:ext cx="1664208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 i="0">
                <a:solidFill>
                  <a:srgbClr val="5B6778"/>
                </a:solidFill>
                <a:latin typeface="Google Sans Flex"/>
              </a:rPr>
              <a:t>Report to the scam list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Rounded Rectangle 143"/>
          <p:cNvSpPr/>
          <p:nvPr/>
        </p:nvSpPr>
        <p:spPr>
          <a:xfrm>
            <a:off x="320040" y="1280160"/>
            <a:ext cx="2011680" cy="960120"/>
          </a:xfrm>
          <a:prstGeom prst="roundRect">
            <a:avLst>
              <a:gd name="adj" fmla="val 8000"/>
            </a:avLst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320040" y="1307592"/>
            <a:ext cx="2011680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2600" b="1" i="0">
                <a:solidFill>
                  <a:srgbClr val="0F766E"/>
                </a:solidFill>
                <a:latin typeface="Google Sans Flex"/>
              </a:rPr>
              <a:t>100.0%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20040" y="1847088"/>
            <a:ext cx="20116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0" i="0">
                <a:solidFill>
                  <a:srgbClr val="0B1F33"/>
                </a:solidFill>
                <a:latin typeface="Google Sans Flex"/>
              </a:rPr>
              <a:t>Accuracy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2487168" y="1280160"/>
            <a:ext cx="2011680" cy="960120"/>
          </a:xfrm>
          <a:prstGeom prst="roundRect">
            <a:avLst>
              <a:gd name="adj" fmla="val 8000"/>
            </a:avLst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2487168" y="1307592"/>
            <a:ext cx="2011680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2600" b="1" i="0">
                <a:solidFill>
                  <a:srgbClr val="0F766E"/>
                </a:solidFill>
                <a:latin typeface="Google Sans Flex"/>
              </a:rPr>
              <a:t>100.0%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487168" y="1847088"/>
            <a:ext cx="20116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0" i="0">
                <a:solidFill>
                  <a:srgbClr val="0B1F33"/>
                </a:solidFill>
                <a:latin typeface="Google Sans Flex"/>
              </a:rPr>
              <a:t>Scam recall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4654296" y="1280160"/>
            <a:ext cx="2011680" cy="960120"/>
          </a:xfrm>
          <a:prstGeom prst="roundRect">
            <a:avLst>
              <a:gd name="adj" fmla="val 8000"/>
            </a:avLst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4654296" y="1307592"/>
            <a:ext cx="2011680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2600" b="1" i="0">
                <a:solidFill>
                  <a:srgbClr val="0F766E"/>
                </a:solidFill>
                <a:latin typeface="Google Sans Flex"/>
              </a:rPr>
              <a:t>0.0%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654296" y="1847088"/>
            <a:ext cx="20116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0" i="0">
                <a:solidFill>
                  <a:srgbClr val="0B1F33"/>
                </a:solidFill>
                <a:latin typeface="Google Sans Flex"/>
              </a:rPr>
              <a:t>False-positive rate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821424" y="1280160"/>
            <a:ext cx="2011680" cy="960120"/>
          </a:xfrm>
          <a:prstGeom prst="roundRect">
            <a:avLst>
              <a:gd name="adj" fmla="val 8000"/>
            </a:avLst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6821424" y="1307592"/>
            <a:ext cx="2011680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2600" b="1" i="0">
                <a:solidFill>
                  <a:srgbClr val="0F766E"/>
                </a:solidFill>
                <a:latin typeface="Google Sans Flex"/>
              </a:rPr>
              <a:t>96.2%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821424" y="1847088"/>
            <a:ext cx="20116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0" i="0">
                <a:solidFill>
                  <a:srgbClr val="0B1F33"/>
                </a:solidFill>
                <a:latin typeface="Google Sans Flex"/>
              </a:rPr>
              <a:t>Scam type correct</a:t>
            </a:r>
          </a:p>
        </p:txBody>
      </p:sp>
      <p:graphicFrame>
        <p:nvGraphicFramePr>
          <p:cNvPr id="156" name="Table 155"/>
          <p:cNvGraphicFramePr>
            <a:graphicFrameLocks noGrp="1"/>
          </p:cNvGraphicFramePr>
          <p:nvPr/>
        </p:nvGraphicFramePr>
        <p:xfrm>
          <a:off x="320040" y="2468880"/>
          <a:ext cx="4206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005840"/>
                <a:gridCol w="1097280"/>
                <a:gridCol w="91440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Google Sans Flex"/>
                        </a:rPr>
                        <a:t>Input</a:t>
                      </a:r>
                    </a:p>
                  </a:txBody>
                  <a:tcPr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Google Sans Flex"/>
                        </a:rPr>
                        <a:t>Median</a:t>
                      </a:r>
                    </a:p>
                  </a:txBody>
                  <a:tcPr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Google Sans Flex"/>
                        </a:rPr>
                        <a:t>Slowest 5%</a:t>
                      </a:r>
                    </a:p>
                  </a:txBody>
                  <a:tcPr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Google Sans Flex"/>
                        </a:rPr>
                        <a:t>Cases</a:t>
                      </a:r>
                    </a:p>
                  </a:txBody>
                  <a:tcPr>
                    <a:solidFill>
                      <a:srgbClr val="0F766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0B1F33"/>
                          </a:solidFill>
                          <a:latin typeface="Google Sans Flex"/>
                        </a:rPr>
                        <a:t>Text</a:t>
                      </a:r>
                    </a:p>
                  </a:txBody>
                  <a:tcPr>
                    <a:solidFill>
                      <a:srgbClr val="E6F4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0B1F33"/>
                          </a:solidFill>
                          <a:latin typeface="Google Sans Flex"/>
                        </a:rPr>
                        <a:t>4.5 s</a:t>
                      </a:r>
                    </a:p>
                  </a:txBody>
                  <a:tcPr>
                    <a:solidFill>
                      <a:srgbClr val="E6F4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0B1F33"/>
                          </a:solidFill>
                          <a:latin typeface="Google Sans Flex"/>
                        </a:rPr>
                        <a:t>12.9 s</a:t>
                      </a:r>
                    </a:p>
                  </a:txBody>
                  <a:tcPr>
                    <a:solidFill>
                      <a:srgbClr val="E6F4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0B1F33"/>
                          </a:solidFill>
                          <a:latin typeface="Google Sans Flex"/>
                        </a:rPr>
                        <a:t>45</a:t>
                      </a:r>
                    </a:p>
                  </a:txBody>
                  <a:tcPr>
                    <a:solidFill>
                      <a:srgbClr val="E6F4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0B1F33"/>
                          </a:solidFill>
                          <a:latin typeface="Google Sans Flex"/>
                        </a:rPr>
                        <a:t>Image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0B1F33"/>
                          </a:solidFill>
                          <a:latin typeface="Google Sans Flex"/>
                        </a:rPr>
                        <a:t>8.9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0B1F33"/>
                          </a:solidFill>
                          <a:latin typeface="Google Sans Flex"/>
                        </a:rPr>
                        <a:t>9.5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0B1F33"/>
                          </a:solidFill>
                          <a:latin typeface="Google Sans Flex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0B1F33"/>
                          </a:solidFill>
                          <a:latin typeface="Google Sans Flex"/>
                        </a:rPr>
                        <a:t>Audio</a:t>
                      </a:r>
                    </a:p>
                  </a:txBody>
                  <a:tcPr>
                    <a:solidFill>
                      <a:srgbClr val="E6F4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0B1F33"/>
                          </a:solidFill>
                          <a:latin typeface="Google Sans Flex"/>
                        </a:rPr>
                        <a:t>14.2 s</a:t>
                      </a:r>
                    </a:p>
                  </a:txBody>
                  <a:tcPr>
                    <a:solidFill>
                      <a:srgbClr val="E6F4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0B1F33"/>
                          </a:solidFill>
                          <a:latin typeface="Google Sans Flex"/>
                        </a:rPr>
                        <a:t>14.2 s</a:t>
                      </a:r>
                    </a:p>
                  </a:txBody>
                  <a:tcPr>
                    <a:solidFill>
                      <a:srgbClr val="E6F4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0B1F33"/>
                          </a:solidFill>
                          <a:latin typeface="Google Sans Flex"/>
                        </a:rPr>
                        <a:t>1</a:t>
                      </a:r>
                    </a:p>
                  </a:txBody>
                  <a:tcPr>
                    <a:solidFill>
                      <a:srgbClr val="E6F4F1"/>
                    </a:solidFill>
                  </a:tcPr>
                </a:tc>
              </a:tr>
            </a:tbl>
          </a:graphicData>
        </a:graphic>
      </p:graphicFrame>
      <p:sp>
        <p:nvSpPr>
          <p:cNvPr id="157" name="TextBox 156"/>
          <p:cNvSpPr txBox="1"/>
          <p:nvPr/>
        </p:nvSpPr>
        <p:spPr>
          <a:xfrm>
            <a:off x="4754880" y="2377440"/>
            <a:ext cx="4069080" cy="2606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0F766E"/>
                </a:solidFill>
                <a:latin typeface="Google Sans Flex"/>
              </a:rPr>
              <a:t>•  </a:t>
            </a:r>
            <a:r>
              <a:rPr sz="1100" b="0" i="0">
                <a:solidFill>
                  <a:srgbClr val="0B1F33"/>
                </a:solidFill>
                <a:latin typeface="Google Sans Flex"/>
              </a:rPr>
              <a:t>50 synthetic cases (26 scams across all 13 scam types, 24 genuine messages), run one at a time against the live app.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0F766E"/>
                </a:solidFill>
                <a:latin typeface="Google Sans Flex"/>
              </a:rPr>
              <a:t>•  </a:t>
            </a:r>
            <a:r>
              <a:rPr sz="1100" b="0" i="0">
                <a:solidFill>
                  <a:srgbClr val="0B1F33"/>
                </a:solidFill>
                <a:latin typeface="Google Sans Flex"/>
              </a:rPr>
              <a:t>Errors: 0. Genuine message flagged: none.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0F766E"/>
                </a:solidFill>
                <a:latin typeface="Google Sans Flex"/>
              </a:rPr>
              <a:t>•  </a:t>
            </a:r>
            <a:r>
              <a:rPr sz="1100" b="0" i="0">
                <a:solidFill>
                  <a:srgbClr val="0B1F33"/>
                </a:solidFill>
                <a:latin typeface="Google Sans Flex"/>
              </a:rPr>
              <a:t>The first run found a real bug (the model did not know today's date and flagged 2026 dates as future); it was fixed and re-measured.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0F766E"/>
                </a:solidFill>
                <a:latin typeface="Google Sans Flex"/>
              </a:rPr>
              <a:t>•  </a:t>
            </a:r>
            <a:r>
              <a:rPr sz="1100" b="0" i="0">
                <a:solidFill>
                  <a:srgbClr val="0B1F33"/>
                </a:solidFill>
                <a:latin typeface="Google Sans Flex"/>
              </a:rPr>
              <a:t>Model choice: an earlier run on gemini-3.8-flash scored 98.0% accuracy and 4.2% false positives, with image checks up to 34 s. It was slow and rate-limited on this project, so the default is gemini-3.7-flash with a fallback.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0F766E"/>
                </a:solidFill>
                <a:latin typeface="Google Sans Flex"/>
              </a:rPr>
              <a:t>•  </a:t>
            </a:r>
            <a:r>
              <a:rPr sz="1100" b="0" i="0">
                <a:solidFill>
                  <a:srgbClr val="0B1F33"/>
                </a:solidFill>
                <a:latin typeface="Google Sans Flex"/>
              </a:rPr>
              <a:t>Small and synthetic: a sanity check, not a guarantee.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320040" y="4069080"/>
            <a:ext cx="420624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1">
                <a:solidFill>
                  <a:srgbClr val="5B6778"/>
                </a:solidFill>
                <a:latin typeface="Google Sans Flex"/>
              </a:rPr>
              <a:t>Slowest 5% is the 95th-percentile time. Image checks vary most because Gemini latency varies.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Rounded Rectangle 151"/>
          <p:cNvSpPr/>
          <p:nvPr/>
        </p:nvSpPr>
        <p:spPr>
          <a:xfrm>
            <a:off x="320040" y="1280160"/>
            <a:ext cx="2057400" cy="1600200"/>
          </a:xfrm>
          <a:prstGeom prst="roundRect">
            <a:avLst>
              <a:gd name="adj" fmla="val 8000"/>
            </a:avLst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93192" y="1335024"/>
            <a:ext cx="1911095" cy="1508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0F766E"/>
                </a:solidFill>
                <a:latin typeface="Google Sans Flex"/>
              </a:rPr>
              <a:t>More Indian languages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0B1F33"/>
                </a:solidFill>
                <a:latin typeface="Google Sans Flex"/>
              </a:rPr>
              <a:t>Tamil, Telugu, Marathi, Bengali and more.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2468880" y="1280160"/>
            <a:ext cx="2057400" cy="1600200"/>
          </a:xfrm>
          <a:prstGeom prst="roundRect">
            <a:avLst>
              <a:gd name="adj" fmla="val 8000"/>
            </a:avLst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2542032" y="1335024"/>
            <a:ext cx="1911095" cy="1508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0F766E"/>
                </a:solidFill>
                <a:latin typeface="Google Sans Flex"/>
              </a:rPr>
              <a:t>Call recordings and on-device checks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0B1F33"/>
                </a:solidFill>
                <a:latin typeface="Google Sans Flex"/>
              </a:rPr>
              <a:t>Check a call as it happens; keep private content on the phone.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4617720" y="1280160"/>
            <a:ext cx="2057400" cy="1600200"/>
          </a:xfrm>
          <a:prstGeom prst="roundRect">
            <a:avLst>
              <a:gd name="adj" fmla="val 8000"/>
            </a:avLst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4690872" y="1335024"/>
            <a:ext cx="1911095" cy="1508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0F766E"/>
                </a:solidFill>
                <a:latin typeface="Google Sans Flex"/>
              </a:rPr>
              <a:t>Bank and telecom partners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0B1F33"/>
                </a:solidFill>
                <a:latin typeface="Google Sans Flex"/>
              </a:rPr>
              <a:t>Feed verified reports into the scam list and push warnings.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6766560" y="1280160"/>
            <a:ext cx="2057400" cy="1600200"/>
          </a:xfrm>
          <a:prstGeom prst="roundRect">
            <a:avLst>
              <a:gd name="adj" fmla="val 8000"/>
            </a:avLst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839712" y="1335024"/>
            <a:ext cx="1911095" cy="1508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0F766E"/>
                </a:solidFill>
                <a:latin typeface="Google Sans Flex"/>
              </a:rPr>
              <a:t>URL reputation feeds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0B1F33"/>
                </a:solidFill>
                <a:latin typeface="Google Sans Flex"/>
              </a:rPr>
              <a:t>Add Google Web Risk next to the isolated scan.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320040" y="2990088"/>
            <a:ext cx="2057400" cy="1600200"/>
          </a:xfrm>
          <a:prstGeom prst="roundRect">
            <a:avLst>
              <a:gd name="adj" fmla="val 8000"/>
            </a:avLst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393192" y="3044952"/>
            <a:ext cx="1911095" cy="1508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0F766E"/>
                </a:solidFill>
                <a:latin typeface="Google Sans Flex"/>
              </a:rPr>
              <a:t>Android app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0B1F33"/>
                </a:solidFill>
                <a:latin typeface="Google Sans Flex"/>
              </a:rPr>
              <a:t>Share-sheet and notification checks for SMS and WhatsApp.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2468880" y="2990088"/>
            <a:ext cx="2057400" cy="1600200"/>
          </a:xfrm>
          <a:prstGeom prst="roundRect">
            <a:avLst>
              <a:gd name="adj" fmla="val 8000"/>
            </a:avLst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2542032" y="3044952"/>
            <a:ext cx="1911095" cy="1508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0F766E"/>
                </a:solidFill>
                <a:latin typeface="Google Sans Flex"/>
              </a:rPr>
              <a:t>Abuse protection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0B1F33"/>
                </a:solidFill>
                <a:latin typeface="Google Sans Flex"/>
              </a:rPr>
              <a:t>Firebase App Check and a stricter per-device limit.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4617720" y="2990088"/>
            <a:ext cx="2057400" cy="1600200"/>
          </a:xfrm>
          <a:prstGeom prst="roundRect">
            <a:avLst>
              <a:gd name="adj" fmla="val 8000"/>
            </a:avLst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690872" y="3044952"/>
            <a:ext cx="1911095" cy="1508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0F766E"/>
                </a:solidFill>
                <a:latin typeface="Google Sans Flex"/>
              </a:rPr>
              <a:t>Google Search grounding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0B1F33"/>
                </a:solidFill>
                <a:latin typeface="Google Sans Flex"/>
              </a:rPr>
              <a:t>Switch on for link checks once project quota allows.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6766560" y="2990088"/>
            <a:ext cx="2057400" cy="1600200"/>
          </a:xfrm>
          <a:prstGeom prst="roundRect">
            <a:avLst>
              <a:gd name="adj" fmla="val 8000"/>
            </a:avLst>
          </a:prstGeom>
          <a:solidFill>
            <a:srgbClr val="E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6839712" y="3044952"/>
            <a:ext cx="1911095" cy="1508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0F766E"/>
                </a:solidFill>
                <a:latin typeface="Google Sans Flex"/>
              </a:rPr>
              <a:t>Misinformation mode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0B1F33"/>
                </a:solidFill>
                <a:latin typeface="Google Sans Flex"/>
              </a:rPr>
              <a:t>The same engine for "is this forward real?".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5039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</a:t>
            </a:r>
            <a:r>
              <a:rPr sz="1400">
                <a:solidFill>
                  <a:srgbClr val="0F766E"/>
                </a:solidFill>
                <a:latin typeface="Google Sans Flex"/>
              </a:rPr>
              <a:t>:  https://github.com/Namans12/scam-shield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</a:t>
            </a:r>
            <a:r>
              <a:rPr sz="1400">
                <a:solidFill>
                  <a:srgbClr val="B42318"/>
                </a:solidFill>
                <a:latin typeface="Google Sans Flex"/>
              </a:rPr>
              <a:t>:  [add the demo video link before submitting]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</a:t>
            </a:r>
            <a:r>
              <a:rPr sz="1400">
                <a:solidFill>
                  <a:srgbClr val="0F766E"/>
                </a:solidFill>
                <a:latin typeface="Google Sans Flex"/>
              </a:rPr>
              <a:t>:  https://project-91260b43-6705-4176-b71.web.app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